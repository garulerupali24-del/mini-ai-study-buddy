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1"/>
  </p:notesMasterIdLst>
  <p:sldIdLst>
    <p:sldId id="256" r:id="rId5"/>
    <p:sldId id="2146847054" r:id="rId6"/>
    <p:sldId id="262" r:id="rId7"/>
    <p:sldId id="263" r:id="rId8"/>
    <p:sldId id="265" r:id="rId9"/>
    <p:sldId id="266" r:id="rId10"/>
    <p:sldId id="2146847059" r:id="rId11"/>
    <p:sldId id="267" r:id="rId12"/>
    <p:sldId id="2146847060" r:id="rId13"/>
    <p:sldId id="2146847061" r:id="rId14"/>
    <p:sldId id="268" r:id="rId15"/>
    <p:sldId id="2146847055" r:id="rId16"/>
    <p:sldId id="269" r:id="rId17"/>
    <p:sldId id="2146847058" r:id="rId18"/>
    <p:sldId id="2146847062" r:id="rId19"/>
    <p:sldId id="25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1979FD-17AE-422F-8DAA-CA9AAE0A1F9C}" v="73" dt="2026-03-05T14:05:04.7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05-03-2026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3/5/2026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3/5/2026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3/5/2026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3/5/2026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3/5/2026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3/5/2026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3/5/2026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3/5/2026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3/5/2026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3/5/2026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3/5/2026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3/5/2026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docs.streamlit.io" TargetMode="External"/><Relationship Id="rId2" Type="http://schemas.openxmlformats.org/officeDocument/2006/relationships/hyperlink" Target="https://www.python.org" TargetMode="External"/><Relationship Id="rId1" Type="http://schemas.openxmlformats.org/officeDocument/2006/relationships/slideLayout" Target="../slideLayouts/slideLayout2.xml"/><Relationship Id="rId5" Type="http://schemas.openxmlformats.org/officeDocument/2006/relationships/hyperlink" Target="https://pypdf2.readthedocs.io" TargetMode="External"/><Relationship Id="rId4" Type="http://schemas.openxmlformats.org/officeDocument/2006/relationships/hyperlink" Target="https://console.groq.com/docs"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mini-ai-study-buddy-t6cwcribqpy58gqebtzd6s.streamlit.app/" TargetMode="External"/><Relationship Id="rId2" Type="http://schemas.openxmlformats.org/officeDocument/2006/relationships/hyperlink" Target="https://github.com/garulerupali24-del/mini-ai-study-buddy"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322788" y="1475973"/>
            <a:ext cx="11706652" cy="698267"/>
          </a:xfrm>
        </p:spPr>
        <p:txBody>
          <a:bodyPr>
            <a:normAutofit fontScale="90000"/>
          </a:bodyPr>
          <a:lstStyle/>
          <a:p>
            <a:pPr algn="ctr"/>
            <a:r>
              <a:rPr lang="en-US" b="1" cap="none" dirty="0">
                <a:solidFill>
                  <a:srgbClr val="002060"/>
                </a:solidFill>
                <a:latin typeface="Arial" panose="020B0604020202020204" pitchFamily="34" charset="0"/>
                <a:cs typeface="Arial" panose="020B0604020202020204" pitchFamily="34" charset="0"/>
              </a:rPr>
              <a:t>“Mini AI Study Buddy – An AI Powered Learning Assistant”</a:t>
            </a:r>
          </a:p>
        </p:txBody>
      </p:sp>
      <p:sp>
        <p:nvSpPr>
          <p:cNvPr id="3" name="TextBox 2"/>
          <p:cNvSpPr txBox="1"/>
          <p:nvPr/>
        </p:nvSpPr>
        <p:spPr>
          <a:xfrm>
            <a:off x="-267324" y="668561"/>
            <a:ext cx="12726648" cy="584775"/>
          </a:xfrm>
          <a:prstGeom prst="rect">
            <a:avLst/>
          </a:prstGeom>
          <a:noFill/>
        </p:spPr>
        <p:txBody>
          <a:bodyPr wrap="square" lIns="91440" tIns="45720" rIns="91440" bIns="45720" rtlCol="0" anchor="t">
            <a:spAutoFit/>
          </a:bodyPr>
          <a:lstStyle/>
          <a:p>
            <a:pPr algn="ctr"/>
            <a:r>
              <a:rPr lang="en-US" sz="3200" b="1" dirty="0">
                <a:solidFill>
                  <a:schemeClr val="accent1">
                    <a:lumMod val="75000"/>
                  </a:schemeClr>
                </a:solidFill>
                <a:latin typeface="Arial"/>
                <a:cs typeface="Arial"/>
              </a:rPr>
              <a:t>CAPSTONE PROJECT</a:t>
            </a:r>
          </a:p>
        </p:txBody>
      </p:sp>
      <p:sp>
        <p:nvSpPr>
          <p:cNvPr id="4" name="TextBox 3"/>
          <p:cNvSpPr txBox="1"/>
          <p:nvPr/>
        </p:nvSpPr>
        <p:spPr>
          <a:xfrm>
            <a:off x="1628694" y="3723968"/>
            <a:ext cx="9094839" cy="2246769"/>
          </a:xfrm>
          <a:prstGeom prst="rect">
            <a:avLst/>
          </a:prstGeom>
          <a:noFill/>
        </p:spPr>
        <p:txBody>
          <a:bodyPr wrap="square" lIns="91440" tIns="45720" rIns="91440" bIns="45720" rtlCol="0" anchor="t">
            <a:spAutoFit/>
          </a:bodyPr>
          <a:lstStyle/>
          <a:p>
            <a:r>
              <a:rPr lang="en-US" sz="2000" b="1" dirty="0">
                <a:solidFill>
                  <a:schemeClr val="accent2">
                    <a:lumMod val="20000"/>
                    <a:lumOff val="80000"/>
                  </a:schemeClr>
                </a:solidFill>
                <a:latin typeface="Arial" pitchFamily="34" charset="0"/>
                <a:cs typeface="Arial" pitchFamily="34" charset="0"/>
              </a:rPr>
              <a:t>Presented By:</a:t>
            </a:r>
          </a:p>
          <a:p>
            <a:endParaRPr lang="en-US" sz="2000" b="1" dirty="0">
              <a:solidFill>
                <a:schemeClr val="accent2">
                  <a:lumMod val="20000"/>
                  <a:lumOff val="80000"/>
                </a:schemeClr>
              </a:solidFill>
              <a:latin typeface="Arial" pitchFamily="34" charset="0"/>
              <a:cs typeface="Arial" pitchFamily="34" charset="0"/>
            </a:endParaRPr>
          </a:p>
          <a:p>
            <a:pPr marL="457200" indent="-457200">
              <a:buAutoNum type="arabicPeriod"/>
            </a:pPr>
            <a:r>
              <a:rPr lang="en-US" sz="2000" b="1" dirty="0">
                <a:solidFill>
                  <a:schemeClr val="accent2">
                    <a:lumMod val="20000"/>
                    <a:lumOff val="80000"/>
                  </a:schemeClr>
                </a:solidFill>
                <a:latin typeface="Arial"/>
                <a:cs typeface="Arial"/>
              </a:rPr>
              <a:t>Student Name-  </a:t>
            </a:r>
            <a:r>
              <a:rPr lang="en-IN" sz="2000" b="1" dirty="0">
                <a:solidFill>
                  <a:schemeClr val="accent2">
                    <a:lumMod val="20000"/>
                    <a:lumOff val="80000"/>
                  </a:schemeClr>
                </a:solidFill>
                <a:latin typeface="Arial" panose="020B0604020202020204" pitchFamily="34" charset="0"/>
                <a:cs typeface="Arial" panose="020B0604020202020204" pitchFamily="34" charset="0"/>
              </a:rPr>
              <a:t>Rupali Dadasaheb Garule</a:t>
            </a:r>
          </a:p>
          <a:p>
            <a:pPr marL="457200" indent="-457200">
              <a:buAutoNum type="arabicPeriod"/>
            </a:pPr>
            <a:endParaRPr lang="en-US" sz="2000" b="1" dirty="0">
              <a:solidFill>
                <a:schemeClr val="accent2">
                  <a:lumMod val="20000"/>
                  <a:lumOff val="80000"/>
                </a:schemeClr>
              </a:solidFill>
              <a:latin typeface="Arial" panose="020B0604020202020204" pitchFamily="34" charset="0"/>
              <a:cs typeface="Arial" panose="020B0604020202020204" pitchFamily="34" charset="0"/>
            </a:endParaRPr>
          </a:p>
          <a:p>
            <a:pPr marL="457200" indent="-457200">
              <a:buAutoNum type="arabicPeriod"/>
            </a:pPr>
            <a:r>
              <a:rPr lang="en-US" sz="2000" b="1" dirty="0">
                <a:solidFill>
                  <a:schemeClr val="accent2">
                    <a:lumMod val="20000"/>
                    <a:lumOff val="80000"/>
                  </a:schemeClr>
                </a:solidFill>
                <a:latin typeface="Arial"/>
                <a:cs typeface="Arial"/>
              </a:rPr>
              <a:t>College Name-  </a:t>
            </a:r>
            <a:r>
              <a:rPr lang="en-US" sz="2000" b="1" dirty="0">
                <a:solidFill>
                  <a:schemeClr val="accent2">
                    <a:lumMod val="20000"/>
                    <a:lumOff val="80000"/>
                  </a:schemeClr>
                </a:solidFill>
                <a:latin typeface="Arial" panose="020B0604020202020204" pitchFamily="34" charset="0"/>
                <a:cs typeface="Arial" panose="020B0604020202020204" pitchFamily="34" charset="0"/>
              </a:rPr>
              <a:t>MSS’s College of Engineering and Technology, Jalna</a:t>
            </a:r>
          </a:p>
          <a:p>
            <a:pPr marL="457200" indent="-457200">
              <a:buAutoNum type="arabicPeriod"/>
            </a:pPr>
            <a:endParaRPr lang="en-US" sz="2000" b="1" dirty="0">
              <a:solidFill>
                <a:schemeClr val="accent2">
                  <a:lumMod val="20000"/>
                  <a:lumOff val="80000"/>
                </a:schemeClr>
              </a:solidFill>
              <a:latin typeface="Arial" panose="020B0604020202020204" pitchFamily="34" charset="0"/>
              <a:cs typeface="Arial" panose="020B0604020202020204" pitchFamily="34" charset="0"/>
            </a:endParaRPr>
          </a:p>
          <a:p>
            <a:pPr marL="457200" indent="-457200">
              <a:buAutoNum type="arabicPeriod"/>
            </a:pPr>
            <a:r>
              <a:rPr lang="en-US" sz="2000" b="1" dirty="0">
                <a:solidFill>
                  <a:schemeClr val="accent2">
                    <a:lumMod val="20000"/>
                    <a:lumOff val="80000"/>
                  </a:schemeClr>
                </a:solidFill>
                <a:latin typeface="Arial"/>
                <a:cs typeface="Arial"/>
              </a:rPr>
              <a:t>Department- </a:t>
            </a:r>
            <a:r>
              <a:rPr lang="en-US" sz="2000" b="1" dirty="0" err="1">
                <a:solidFill>
                  <a:schemeClr val="accent2">
                    <a:lumMod val="20000"/>
                    <a:lumOff val="80000"/>
                  </a:schemeClr>
                </a:solidFill>
                <a:latin typeface="Arial" panose="020B0604020202020204" pitchFamily="34" charset="0"/>
                <a:cs typeface="Arial" panose="020B0604020202020204" pitchFamily="34" charset="0"/>
              </a:rPr>
              <a:t>B.Tech</a:t>
            </a:r>
            <a:r>
              <a:rPr lang="en-US" sz="2000" b="1" dirty="0">
                <a:solidFill>
                  <a:schemeClr val="accent2">
                    <a:lumMod val="20000"/>
                    <a:lumOff val="80000"/>
                  </a:schemeClr>
                </a:solidFill>
                <a:latin typeface="Arial" panose="020B0604020202020204" pitchFamily="34" charset="0"/>
                <a:cs typeface="Arial" panose="020B0604020202020204" pitchFamily="34" charset="0"/>
              </a:rPr>
              <a:t> Computer Science and Engineering</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dirty="0">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r>
              <a:rPr lang="en-US" sz="2000" b="1" dirty="0">
                <a:latin typeface="Arial"/>
                <a:ea typeface="+mn-lt"/>
                <a:cs typeface="Arial"/>
              </a:rPr>
              <a:t>Problem Statement </a:t>
            </a:r>
            <a:r>
              <a:rPr lang="en-US" sz="2000" dirty="0">
                <a:latin typeface="Arial"/>
                <a:ea typeface="+mn-lt"/>
                <a:cs typeface="Arial"/>
              </a:rPr>
              <a:t>(Should not include solution)</a:t>
            </a:r>
            <a:endParaRPr lang="en-US" dirty="0">
              <a:latin typeface="Arial"/>
              <a:cs typeface="Arial"/>
            </a:endParaRPr>
          </a:p>
          <a:p>
            <a:r>
              <a:rPr lang="en-US" sz="2000" b="1" dirty="0">
                <a:latin typeface="Arial"/>
                <a:ea typeface="+mn-lt"/>
                <a:cs typeface="Arial"/>
              </a:rPr>
              <a:t>Proposed System/Solution</a:t>
            </a:r>
            <a:endParaRPr lang="en-US" dirty="0">
              <a:latin typeface="Arial"/>
              <a:cs typeface="Arial"/>
            </a:endParaRPr>
          </a:p>
          <a:p>
            <a:r>
              <a:rPr lang="en-US" sz="2000" b="1" dirty="0">
                <a:latin typeface="Arial"/>
                <a:ea typeface="+mn-lt"/>
                <a:cs typeface="Calibri"/>
              </a:rPr>
              <a:t>System </a:t>
            </a:r>
            <a:r>
              <a:rPr lang="en-US" sz="2000" b="1" dirty="0">
                <a:latin typeface="Arial"/>
                <a:ea typeface="+mn-lt"/>
                <a:cs typeface="+mn-lt"/>
              </a:rPr>
              <a:t>Development Approach </a:t>
            </a:r>
            <a:r>
              <a:rPr lang="en-US" sz="2000" dirty="0">
                <a:latin typeface="Arial"/>
                <a:ea typeface="+mn-lt"/>
                <a:cs typeface="+mn-lt"/>
              </a:rPr>
              <a:t>(Technology Used) </a:t>
            </a:r>
            <a:endParaRPr lang="en-US" dirty="0">
              <a:latin typeface="Arial"/>
              <a:ea typeface="+mn-lt"/>
              <a:cs typeface="+mn-lt"/>
            </a:endParaRPr>
          </a:p>
          <a:p>
            <a:r>
              <a:rPr lang="en-US" sz="2000" b="1" dirty="0">
                <a:latin typeface="Arial"/>
                <a:ea typeface="+mn-lt"/>
                <a:cs typeface="+mn-lt"/>
              </a:rPr>
              <a:t>Algorithm &amp; Deployment  </a:t>
            </a:r>
            <a:endParaRPr lang="en-US" dirty="0">
              <a:latin typeface="Arial"/>
              <a:cs typeface="Calibri"/>
            </a:endParaRPr>
          </a:p>
          <a:p>
            <a:r>
              <a:rPr lang="en-US" sz="2000" b="1" dirty="0">
                <a:latin typeface="Arial"/>
                <a:ea typeface="+mn-lt"/>
                <a:cs typeface="Arial"/>
              </a:rPr>
              <a:t>Result</a:t>
            </a:r>
          </a:p>
          <a:p>
            <a:r>
              <a:rPr lang="en-US" sz="2000" b="1" dirty="0">
                <a:latin typeface="Arial"/>
                <a:ea typeface="+mn-lt"/>
                <a:cs typeface="Arial"/>
              </a:rPr>
              <a:t>Conclusion</a:t>
            </a:r>
            <a:endParaRPr lang="en-US" dirty="0">
              <a:latin typeface="Arial"/>
              <a:cs typeface="Arial"/>
            </a:endParaRPr>
          </a:p>
          <a:p>
            <a:r>
              <a:rPr lang="en-US" sz="2000" b="1" dirty="0">
                <a:latin typeface="Arial"/>
                <a:ea typeface="+mn-lt"/>
                <a:cs typeface="Arial"/>
              </a:rPr>
              <a:t>Future Scope</a:t>
            </a:r>
          </a:p>
          <a:p>
            <a:r>
              <a:rPr lang="en-US" sz="2000" b="1" dirty="0">
                <a:latin typeface="Arial"/>
                <a:ea typeface="+mn-lt"/>
                <a:cs typeface="Arial"/>
              </a:rPr>
              <a:t>References</a:t>
            </a:r>
            <a:endParaRPr lang="en-US" dirty="0">
              <a:latin typeface="Arial"/>
              <a:cs typeface="Arial"/>
            </a:endParaRPr>
          </a:p>
          <a:p>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Problem Statement</a:t>
            </a:r>
            <a:endParaRPr lang="en-US" sz="4400" dirty="0"/>
          </a:p>
        </p:txBody>
      </p:sp>
      <p:sp>
        <p:nvSpPr>
          <p:cNvPr id="9" name="TextBox 8">
            <a:extLst>
              <a:ext uri="{FF2B5EF4-FFF2-40B4-BE49-F238E27FC236}">
                <a16:creationId xmlns:a16="http://schemas.microsoft.com/office/drawing/2014/main" id="{F1D35FDD-F7F1-916F-670F-81C1E7DF5CE0}"/>
              </a:ext>
            </a:extLst>
          </p:cNvPr>
          <p:cNvSpPr txBox="1"/>
          <p:nvPr/>
        </p:nvSpPr>
        <p:spPr>
          <a:xfrm>
            <a:off x="889393" y="1474563"/>
            <a:ext cx="10155634" cy="1673600"/>
          </a:xfrm>
          <a:prstGeom prst="rect">
            <a:avLst/>
          </a:prstGeom>
          <a:noFill/>
        </p:spPr>
        <p:txBody>
          <a:bodyPr wrap="square">
            <a:spAutoFit/>
          </a:bodyPr>
          <a:lstStyle/>
          <a:p>
            <a:pPr marL="0" indent="0" algn="just">
              <a:lnSpc>
                <a:spcPts val="2500"/>
              </a:lnSpc>
              <a:buNone/>
            </a:pPr>
            <a:r>
              <a:rPr lang="en-US" sz="2000" dirty="0">
                <a:solidFill>
                  <a:srgbClr val="333F70"/>
                </a:solidFill>
                <a:latin typeface="Arial" panose="020B0604020202020204" pitchFamily="34" charset="0"/>
                <a:ea typeface="Open Sans" pitchFamily="34" charset="-122"/>
                <a:cs typeface="Arial" panose="020B0604020202020204" pitchFamily="34" charset="0"/>
              </a:rPr>
              <a:t>In today's digital learning environment, students frequently encounter significant challenges when attempting to understand complex concepts during self-study sessions. Although vast amounts of information are readily available online, search results often present lengthy explanations or irrelevant content that makes learning confusing and unnecessarily time-consuming.</a:t>
            </a:r>
            <a:endParaRPr lang="en-US" sz="20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A1B1F9E4-70FC-33D3-897D-4B329DF713FC}"/>
              </a:ext>
            </a:extLst>
          </p:cNvPr>
          <p:cNvSpPr txBox="1"/>
          <p:nvPr/>
        </p:nvSpPr>
        <p:spPr>
          <a:xfrm>
            <a:off x="889393" y="3350756"/>
            <a:ext cx="10155634" cy="1347164"/>
          </a:xfrm>
          <a:prstGeom prst="rect">
            <a:avLst/>
          </a:prstGeom>
          <a:noFill/>
        </p:spPr>
        <p:txBody>
          <a:bodyPr wrap="square">
            <a:spAutoFit/>
          </a:bodyPr>
          <a:lstStyle/>
          <a:p>
            <a:pPr marL="0" indent="0" algn="just">
              <a:lnSpc>
                <a:spcPts val="2500"/>
              </a:lnSpc>
              <a:buNone/>
            </a:pPr>
            <a:r>
              <a:rPr lang="en-US" sz="2000" dirty="0">
                <a:solidFill>
                  <a:srgbClr val="333F70"/>
                </a:solidFill>
                <a:latin typeface="Arial" panose="020B0604020202020204" pitchFamily="34" charset="0"/>
                <a:ea typeface="Open Sans" pitchFamily="34" charset="-122"/>
                <a:cs typeface="Arial" panose="020B0604020202020204" pitchFamily="34" charset="0"/>
              </a:rPr>
              <a:t>Furthermore, teachers and mentors may not always be available to answer students' questions instantly, creating gaps in understanding. Revising large volumes of study material remains challenging, and students often lack effective tools to test their comprehension through practice questions or quick revision methods like flashcards.</a:t>
            </a:r>
            <a:endParaRPr lang="en-US" sz="2000" dirty="0">
              <a:latin typeface="Arial" panose="020B0604020202020204" pitchFamily="34" charset="0"/>
              <a:cs typeface="Arial" panose="020B0604020202020204" pitchFamily="34" charset="0"/>
            </a:endParaRPr>
          </a:p>
        </p:txBody>
      </p:sp>
      <p:sp>
        <p:nvSpPr>
          <p:cNvPr id="12" name="Shape 3">
            <a:extLst>
              <a:ext uri="{FF2B5EF4-FFF2-40B4-BE49-F238E27FC236}">
                <a16:creationId xmlns:a16="http://schemas.microsoft.com/office/drawing/2014/main" id="{DD15D7F9-5B0E-80B6-4DD8-86CCFD8666AC}"/>
              </a:ext>
            </a:extLst>
          </p:cNvPr>
          <p:cNvSpPr/>
          <p:nvPr/>
        </p:nvSpPr>
        <p:spPr>
          <a:xfrm>
            <a:off x="889393" y="5104574"/>
            <a:ext cx="10285309" cy="1160740"/>
          </a:xfrm>
          <a:prstGeom prst="roundRect">
            <a:avLst>
              <a:gd name="adj" fmla="val 7182"/>
            </a:avLst>
          </a:prstGeom>
          <a:solidFill>
            <a:schemeClr val="accent2">
              <a:lumMod val="20000"/>
              <a:lumOff val="80000"/>
            </a:schemeClr>
          </a:solidFill>
          <a:ln/>
        </p:spPr>
        <p:txBody>
          <a:bodyPr/>
          <a:lstStyle/>
          <a:p>
            <a:pPr algn="just"/>
            <a:endParaRPr lang="en-IN" sz="2000" dirty="0">
              <a:latin typeface="Arial" panose="020B0604020202020204" pitchFamily="34" charset="0"/>
              <a:cs typeface="Arial" panose="020B0604020202020204" pitchFamily="34" charset="0"/>
            </a:endParaRPr>
          </a:p>
        </p:txBody>
      </p:sp>
      <p:pic>
        <p:nvPicPr>
          <p:cNvPr id="13" name="Image 0" descr="preencoded.png">
            <a:extLst>
              <a:ext uri="{FF2B5EF4-FFF2-40B4-BE49-F238E27FC236}">
                <a16:creationId xmlns:a16="http://schemas.microsoft.com/office/drawing/2014/main" id="{D6B30422-1E75-4FC5-094D-23760ACE86C1}"/>
              </a:ext>
            </a:extLst>
          </p:cNvPr>
          <p:cNvPicPr>
            <a:picLocks noChangeAspect="1"/>
          </p:cNvPicPr>
          <p:nvPr/>
        </p:nvPicPr>
        <p:blipFill>
          <a:blip r:embed="rId2">
            <a:duotone>
              <a:schemeClr val="accent2">
                <a:shade val="45000"/>
                <a:satMod val="135000"/>
              </a:schemeClr>
              <a:prstClr val="white"/>
            </a:duotone>
          </a:blip>
          <a:stretch>
            <a:fillRect/>
          </a:stretch>
        </p:blipFill>
        <p:spPr>
          <a:xfrm flipV="1">
            <a:off x="1017299" y="5375480"/>
            <a:ext cx="249323" cy="199410"/>
          </a:xfrm>
          <a:prstGeom prst="rect">
            <a:avLst/>
          </a:prstGeom>
        </p:spPr>
      </p:pic>
      <p:sp>
        <p:nvSpPr>
          <p:cNvPr id="14" name="Text 4">
            <a:extLst>
              <a:ext uri="{FF2B5EF4-FFF2-40B4-BE49-F238E27FC236}">
                <a16:creationId xmlns:a16="http://schemas.microsoft.com/office/drawing/2014/main" id="{5FE6CC16-BDAA-B537-6281-EF3851FB2807}"/>
              </a:ext>
            </a:extLst>
          </p:cNvPr>
          <p:cNvSpPr/>
          <p:nvPr/>
        </p:nvSpPr>
        <p:spPr>
          <a:xfrm>
            <a:off x="1323693" y="5329479"/>
            <a:ext cx="9721334" cy="710930"/>
          </a:xfrm>
          <a:prstGeom prst="rect">
            <a:avLst/>
          </a:prstGeom>
          <a:noFill/>
          <a:ln/>
        </p:spPr>
        <p:txBody>
          <a:bodyPr wrap="square" lIns="0" tIns="0" rIns="0" bIns="0" rtlCol="0" anchor="t"/>
          <a:lstStyle/>
          <a:p>
            <a:pPr marL="0" indent="0" algn="just">
              <a:lnSpc>
                <a:spcPts val="2500"/>
              </a:lnSpc>
              <a:buNone/>
            </a:pPr>
            <a:r>
              <a:rPr lang="en-US" sz="1600" dirty="0">
                <a:solidFill>
                  <a:srgbClr val="000000"/>
                </a:solidFill>
                <a:latin typeface="Arial" panose="020B0604020202020204" pitchFamily="34" charset="0"/>
                <a:ea typeface="Open Sans" pitchFamily="34" charset="-122"/>
                <a:cs typeface="Arial" panose="020B0604020202020204" pitchFamily="34" charset="0"/>
              </a:rPr>
              <a:t>There is a clear need for an intelligent learning assistant that can simplify concepts, summarise study materials, and provide interactive ways for students to practise and revise effectively.</a:t>
            </a:r>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Proposed Solution</a:t>
            </a:r>
            <a:endParaRPr lang="en-US" sz="4400" dirty="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441671" y="1087378"/>
            <a:ext cx="11613485" cy="5563973"/>
          </a:xfrm>
        </p:spPr>
        <p:txBody>
          <a:bodyPr vert="horz" lIns="91440" tIns="45720" rIns="91440" bIns="45720" rtlCol="0" anchor="ctr">
            <a:noAutofit/>
          </a:bodyPr>
          <a:lstStyle/>
          <a:p>
            <a:pPr marL="305435" indent="-305435"/>
            <a:endParaRPr lang="en-IN" sz="1600" dirty="0"/>
          </a:p>
          <a:p>
            <a:pPr marL="0" indent="0">
              <a:buNone/>
            </a:pPr>
            <a:endParaRPr lang="en-IN" dirty="0"/>
          </a:p>
        </p:txBody>
      </p:sp>
      <p:sp>
        <p:nvSpPr>
          <p:cNvPr id="3" name="Text 1">
            <a:extLst>
              <a:ext uri="{FF2B5EF4-FFF2-40B4-BE49-F238E27FC236}">
                <a16:creationId xmlns:a16="http://schemas.microsoft.com/office/drawing/2014/main" id="{57A75609-DCA6-7518-D7BE-F2DA56A56884}"/>
              </a:ext>
            </a:extLst>
          </p:cNvPr>
          <p:cNvSpPr/>
          <p:nvPr/>
        </p:nvSpPr>
        <p:spPr>
          <a:xfrm>
            <a:off x="581192" y="1391209"/>
            <a:ext cx="11029615" cy="1141409"/>
          </a:xfrm>
          <a:prstGeom prst="rect">
            <a:avLst/>
          </a:prstGeom>
          <a:noFill/>
          <a:ln/>
        </p:spPr>
        <p:txBody>
          <a:bodyPr wrap="square" lIns="0" tIns="0" rIns="0" bIns="0" rtlCol="0" anchor="t"/>
          <a:lstStyle/>
          <a:p>
            <a:pPr marL="0" indent="540000" algn="just">
              <a:lnSpc>
                <a:spcPts val="2500"/>
              </a:lnSpc>
              <a:buNone/>
            </a:pPr>
            <a:r>
              <a:rPr lang="en-US" dirty="0">
                <a:solidFill>
                  <a:srgbClr val="333F70"/>
                </a:solidFill>
                <a:latin typeface="Arial" panose="020B0604020202020204" pitchFamily="34" charset="0"/>
                <a:ea typeface="Open Sans" pitchFamily="34" charset="-122"/>
                <a:cs typeface="Arial" panose="020B0604020202020204" pitchFamily="34" charset="0"/>
              </a:rPr>
              <a:t>To address the challenges faced by students during self-study, I developed </a:t>
            </a:r>
            <a:r>
              <a:rPr lang="en-US" b="1" dirty="0">
                <a:solidFill>
                  <a:srgbClr val="333F70"/>
                </a:solidFill>
                <a:latin typeface="Arial" panose="020B0604020202020204" pitchFamily="34" charset="0"/>
                <a:ea typeface="Open Sans" pitchFamily="34" charset="-122"/>
                <a:cs typeface="Arial" panose="020B0604020202020204" pitchFamily="34" charset="0"/>
              </a:rPr>
              <a:t>Mini AI Study Buddy</a:t>
            </a:r>
            <a:r>
              <a:rPr lang="en-US" dirty="0">
                <a:solidFill>
                  <a:srgbClr val="333F70"/>
                </a:solidFill>
                <a:latin typeface="Arial" panose="020B0604020202020204" pitchFamily="34" charset="0"/>
                <a:ea typeface="Open Sans" pitchFamily="34" charset="-122"/>
                <a:cs typeface="Arial" panose="020B0604020202020204" pitchFamily="34" charset="0"/>
              </a:rPr>
              <a:t>, an intelligent AI-powered learning assistant designed to make studying more efficient, interactive, and accessible. The system leverages advanced artificial intelligence to provide instant support to students.</a:t>
            </a:r>
            <a:endParaRPr lang="en-US" dirty="0">
              <a:latin typeface="Arial" panose="020B0604020202020204" pitchFamily="34" charset="0"/>
              <a:cs typeface="Arial" panose="020B0604020202020204" pitchFamily="34" charset="0"/>
            </a:endParaRPr>
          </a:p>
        </p:txBody>
      </p:sp>
      <p:pic>
        <p:nvPicPr>
          <p:cNvPr id="30" name="Picture 29">
            <a:extLst>
              <a:ext uri="{FF2B5EF4-FFF2-40B4-BE49-F238E27FC236}">
                <a16:creationId xmlns:a16="http://schemas.microsoft.com/office/drawing/2014/main" id="{8925E282-AE50-19EB-BF47-21E301F23635}"/>
              </a:ext>
            </a:extLst>
          </p:cNvPr>
          <p:cNvPicPr>
            <a:picLocks noChangeAspect="1"/>
          </p:cNvPicPr>
          <p:nvPr/>
        </p:nvPicPr>
        <p:blipFill>
          <a:blip r:embed="rId2"/>
          <a:stretch>
            <a:fillRect/>
          </a:stretch>
        </p:blipFill>
        <p:spPr>
          <a:xfrm>
            <a:off x="581192" y="2532618"/>
            <a:ext cx="11029616" cy="3112045"/>
          </a:xfrm>
          <a:prstGeom prst="rect">
            <a:avLst/>
          </a:prstGeom>
        </p:spPr>
      </p:pic>
      <p:sp>
        <p:nvSpPr>
          <p:cNvPr id="31" name="Text 14">
            <a:extLst>
              <a:ext uri="{FF2B5EF4-FFF2-40B4-BE49-F238E27FC236}">
                <a16:creationId xmlns:a16="http://schemas.microsoft.com/office/drawing/2014/main" id="{A605D04C-4ADE-E5F8-576B-F1BDA28B27CD}"/>
              </a:ext>
            </a:extLst>
          </p:cNvPr>
          <p:cNvSpPr/>
          <p:nvPr/>
        </p:nvSpPr>
        <p:spPr>
          <a:xfrm>
            <a:off x="581192" y="5811258"/>
            <a:ext cx="11029615" cy="689172"/>
          </a:xfrm>
          <a:prstGeom prst="rect">
            <a:avLst/>
          </a:prstGeom>
          <a:noFill/>
          <a:ln/>
        </p:spPr>
        <p:txBody>
          <a:bodyPr wrap="square" lIns="0" tIns="0" rIns="0" bIns="0" rtlCol="0" anchor="t"/>
          <a:lstStyle/>
          <a:p>
            <a:pPr marL="0" indent="0" algn="just">
              <a:lnSpc>
                <a:spcPts val="2500"/>
              </a:lnSpc>
              <a:buNone/>
            </a:pPr>
            <a:r>
              <a:rPr lang="en-US" dirty="0">
                <a:solidFill>
                  <a:srgbClr val="333F70"/>
                </a:solidFill>
                <a:latin typeface="Arial" panose="020B0604020202020204" pitchFamily="34" charset="0"/>
                <a:ea typeface="Open Sans" pitchFamily="34" charset="-122"/>
                <a:cs typeface="Arial" panose="020B0604020202020204" pitchFamily="34" charset="0"/>
              </a:rPr>
              <a:t>By integrating these features into a single platform, Mini AI Study Buddy provides a smart and personalised learning environment that enhances students' comprehension, revision, and overall learning experience.</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dirty="0">
                <a:solidFill>
                  <a:schemeClr val="accent1"/>
                </a:solidFill>
                <a:latin typeface="Arial"/>
                <a:ea typeface="+mj-lt"/>
                <a:cs typeface="Arial"/>
              </a:rPr>
              <a:t>System  Approach</a:t>
            </a:r>
            <a:endParaRPr lang="en-US" sz="4400" dirty="0">
              <a:solidFill>
                <a:schemeClr val="accent1"/>
              </a:solidFill>
              <a:latin typeface="Calibri Light"/>
              <a:cs typeface="Calibri Light"/>
            </a:endParaRPr>
          </a:p>
        </p:txBody>
      </p:sp>
      <p:sp>
        <p:nvSpPr>
          <p:cNvPr id="2" name="Text 1">
            <a:extLst>
              <a:ext uri="{FF2B5EF4-FFF2-40B4-BE49-F238E27FC236}">
                <a16:creationId xmlns:a16="http://schemas.microsoft.com/office/drawing/2014/main" id="{A7666E15-5215-B118-5F16-71B6D0EB1A3A}"/>
              </a:ext>
            </a:extLst>
          </p:cNvPr>
          <p:cNvSpPr/>
          <p:nvPr/>
        </p:nvSpPr>
        <p:spPr>
          <a:xfrm>
            <a:off x="581192" y="1392042"/>
            <a:ext cx="2289827" cy="372070"/>
          </a:xfrm>
          <a:prstGeom prst="rect">
            <a:avLst/>
          </a:prstGeom>
          <a:noFill/>
          <a:ln/>
        </p:spPr>
        <p:txBody>
          <a:bodyPr wrap="none" lIns="0" tIns="0" rIns="0" bIns="0" rtlCol="0" anchor="t"/>
          <a:lstStyle/>
          <a:p>
            <a:pPr marL="0" indent="0" algn="just">
              <a:lnSpc>
                <a:spcPts val="2900"/>
              </a:lnSpc>
              <a:buNone/>
            </a:pPr>
            <a:r>
              <a:rPr lang="en-US" sz="2400" b="1" dirty="0">
                <a:solidFill>
                  <a:srgbClr val="333F70"/>
                </a:solidFill>
                <a:latin typeface="Arial" panose="020B0604020202020204" pitchFamily="34" charset="0"/>
                <a:ea typeface="Unbounded Bold" pitchFamily="34" charset="-122"/>
                <a:cs typeface="Arial" panose="020B0604020202020204" pitchFamily="34" charset="0"/>
              </a:rPr>
              <a:t>Technology Stack</a:t>
            </a:r>
            <a:endParaRPr lang="en-US" sz="2400" dirty="0">
              <a:latin typeface="Arial" panose="020B0604020202020204" pitchFamily="34" charset="0"/>
              <a:cs typeface="Arial" panose="020B0604020202020204" pitchFamily="34" charset="0"/>
            </a:endParaRPr>
          </a:p>
        </p:txBody>
      </p:sp>
      <p:sp>
        <p:nvSpPr>
          <p:cNvPr id="4" name="Text 2">
            <a:extLst>
              <a:ext uri="{FF2B5EF4-FFF2-40B4-BE49-F238E27FC236}">
                <a16:creationId xmlns:a16="http://schemas.microsoft.com/office/drawing/2014/main" id="{BA7AE7DD-6B2B-8380-6011-7A91CEA7F8BE}"/>
              </a:ext>
            </a:extLst>
          </p:cNvPr>
          <p:cNvSpPr/>
          <p:nvPr/>
        </p:nvSpPr>
        <p:spPr>
          <a:xfrm>
            <a:off x="581192" y="1922692"/>
            <a:ext cx="5072603" cy="3357231"/>
          </a:xfrm>
          <a:prstGeom prst="rect">
            <a:avLst/>
          </a:prstGeom>
          <a:noFill/>
          <a:ln/>
        </p:spPr>
        <p:txBody>
          <a:bodyPr wrap="square" lIns="0" tIns="0" rIns="0" bIns="0" rtlCol="0" anchor="t"/>
          <a:lstStyle/>
          <a:p>
            <a:pPr marL="342900" indent="-342900" algn="just">
              <a:lnSpc>
                <a:spcPts val="2500"/>
              </a:lnSpc>
              <a:buSzPct val="100000"/>
              <a:buChar char="•"/>
            </a:pPr>
            <a:r>
              <a:rPr lang="en-US" sz="2000" dirty="0">
                <a:solidFill>
                  <a:srgbClr val="333F70"/>
                </a:solidFill>
                <a:latin typeface="Arial" panose="020B0604020202020204" pitchFamily="34" charset="0"/>
                <a:ea typeface="Open Sans" pitchFamily="34" charset="-122"/>
                <a:cs typeface="Arial" panose="020B0604020202020204" pitchFamily="34" charset="0"/>
              </a:rPr>
              <a:t>Python programming language for backend development</a:t>
            </a:r>
            <a:endParaRPr lang="en-US" sz="2000" dirty="0">
              <a:latin typeface="Arial" panose="020B0604020202020204" pitchFamily="34" charset="0"/>
              <a:cs typeface="Arial" panose="020B0604020202020204" pitchFamily="34" charset="0"/>
            </a:endParaRPr>
          </a:p>
          <a:p>
            <a:pPr marL="342900" indent="-342900" algn="just">
              <a:lnSpc>
                <a:spcPts val="2500"/>
              </a:lnSpc>
              <a:buSzPct val="100000"/>
              <a:buChar char="•"/>
            </a:pPr>
            <a:r>
              <a:rPr lang="en-US" sz="2000" dirty="0">
                <a:solidFill>
                  <a:srgbClr val="333F70"/>
                </a:solidFill>
                <a:latin typeface="Arial" panose="020B0604020202020204" pitchFamily="34" charset="0"/>
                <a:ea typeface="Open Sans" pitchFamily="34" charset="-122"/>
                <a:cs typeface="Arial" panose="020B0604020202020204" pitchFamily="34" charset="0"/>
              </a:rPr>
              <a:t>Streamlit framework for creating interactive web interface</a:t>
            </a:r>
            <a:endParaRPr lang="en-US" sz="2000" dirty="0">
              <a:latin typeface="Arial" panose="020B0604020202020204" pitchFamily="34" charset="0"/>
              <a:cs typeface="Arial" panose="020B0604020202020204" pitchFamily="34" charset="0"/>
            </a:endParaRPr>
          </a:p>
          <a:p>
            <a:pPr marL="342900" indent="-342900" algn="just">
              <a:lnSpc>
                <a:spcPts val="2500"/>
              </a:lnSpc>
              <a:buSzPct val="100000"/>
              <a:buChar char="•"/>
            </a:pPr>
            <a:r>
              <a:rPr lang="en-US" sz="2000" dirty="0">
                <a:solidFill>
                  <a:srgbClr val="333F70"/>
                </a:solidFill>
                <a:latin typeface="Arial" panose="020B0604020202020204" pitchFamily="34" charset="0"/>
                <a:ea typeface="Open Sans" pitchFamily="34" charset="-122"/>
                <a:cs typeface="Arial" panose="020B0604020202020204" pitchFamily="34" charset="0"/>
              </a:rPr>
              <a:t>Groq LLM (LLaMA 3.1 model) for AI-powered responses</a:t>
            </a:r>
            <a:endParaRPr lang="en-US" sz="2000" dirty="0">
              <a:latin typeface="Arial" panose="020B0604020202020204" pitchFamily="34" charset="0"/>
              <a:cs typeface="Arial" panose="020B0604020202020204" pitchFamily="34" charset="0"/>
            </a:endParaRPr>
          </a:p>
          <a:p>
            <a:pPr marL="342900" indent="-342900" algn="just">
              <a:lnSpc>
                <a:spcPts val="2500"/>
              </a:lnSpc>
              <a:buSzPct val="100000"/>
              <a:buChar char="•"/>
            </a:pPr>
            <a:r>
              <a:rPr lang="en-US" sz="2000" dirty="0">
                <a:solidFill>
                  <a:srgbClr val="333F70"/>
                </a:solidFill>
                <a:latin typeface="Arial" panose="020B0604020202020204" pitchFamily="34" charset="0"/>
                <a:ea typeface="Open Sans" pitchFamily="34" charset="-122"/>
                <a:cs typeface="Arial" panose="020B0604020202020204" pitchFamily="34" charset="0"/>
              </a:rPr>
              <a:t>PyPDF2 library for PDF document processing</a:t>
            </a:r>
            <a:endParaRPr lang="en-US" sz="2000" dirty="0">
              <a:latin typeface="Arial" panose="020B0604020202020204" pitchFamily="34" charset="0"/>
              <a:cs typeface="Arial" panose="020B0604020202020204" pitchFamily="34" charset="0"/>
            </a:endParaRPr>
          </a:p>
          <a:p>
            <a:pPr marL="342900" indent="-342900" algn="just">
              <a:lnSpc>
                <a:spcPts val="2500"/>
              </a:lnSpc>
              <a:buSzPct val="100000"/>
              <a:buChar char="•"/>
            </a:pPr>
            <a:r>
              <a:rPr lang="en-US" sz="2000" dirty="0">
                <a:solidFill>
                  <a:srgbClr val="333F70"/>
                </a:solidFill>
                <a:latin typeface="Arial" panose="020B0604020202020204" pitchFamily="34" charset="0"/>
                <a:ea typeface="Open Sans" pitchFamily="34" charset="-122"/>
                <a:cs typeface="Arial" panose="020B0604020202020204" pitchFamily="34" charset="0"/>
              </a:rPr>
              <a:t>Streamlit session state for progress tracking</a:t>
            </a:r>
            <a:endParaRPr lang="en-US" sz="2000" dirty="0">
              <a:latin typeface="Arial" panose="020B0604020202020204" pitchFamily="34" charset="0"/>
              <a:cs typeface="Arial" panose="020B0604020202020204" pitchFamily="34" charset="0"/>
            </a:endParaRPr>
          </a:p>
        </p:txBody>
      </p:sp>
      <p:sp>
        <p:nvSpPr>
          <p:cNvPr id="6" name="Text 3">
            <a:extLst>
              <a:ext uri="{FF2B5EF4-FFF2-40B4-BE49-F238E27FC236}">
                <a16:creationId xmlns:a16="http://schemas.microsoft.com/office/drawing/2014/main" id="{91DDC302-3522-4588-C7F9-221216C20A60}"/>
              </a:ext>
            </a:extLst>
          </p:cNvPr>
          <p:cNvSpPr/>
          <p:nvPr/>
        </p:nvSpPr>
        <p:spPr>
          <a:xfrm>
            <a:off x="6096000" y="1355586"/>
            <a:ext cx="2812270" cy="372070"/>
          </a:xfrm>
          <a:prstGeom prst="rect">
            <a:avLst/>
          </a:prstGeom>
          <a:noFill/>
          <a:ln/>
        </p:spPr>
        <p:txBody>
          <a:bodyPr wrap="none" lIns="0" tIns="0" rIns="0" bIns="0" rtlCol="0" anchor="t"/>
          <a:lstStyle/>
          <a:p>
            <a:pPr marL="0" indent="0" algn="just">
              <a:lnSpc>
                <a:spcPts val="2900"/>
              </a:lnSpc>
              <a:buNone/>
            </a:pPr>
            <a:r>
              <a:rPr lang="en-US" sz="2400" b="1" dirty="0">
                <a:solidFill>
                  <a:srgbClr val="333F70"/>
                </a:solidFill>
                <a:latin typeface="Arial" panose="020B0604020202020204" pitchFamily="34" charset="0"/>
                <a:ea typeface="Unbounded Bold" pitchFamily="34" charset="-122"/>
                <a:cs typeface="Arial" panose="020B0604020202020204" pitchFamily="34" charset="0"/>
              </a:rPr>
              <a:t>Design Principles</a:t>
            </a:r>
            <a:endParaRPr lang="en-US" sz="2400" dirty="0">
              <a:latin typeface="Arial" panose="020B0604020202020204" pitchFamily="34" charset="0"/>
              <a:cs typeface="Arial" panose="020B0604020202020204" pitchFamily="34" charset="0"/>
            </a:endParaRPr>
          </a:p>
        </p:txBody>
      </p:sp>
      <p:sp>
        <p:nvSpPr>
          <p:cNvPr id="7" name="Text 4">
            <a:extLst>
              <a:ext uri="{FF2B5EF4-FFF2-40B4-BE49-F238E27FC236}">
                <a16:creationId xmlns:a16="http://schemas.microsoft.com/office/drawing/2014/main" id="{7DDAED78-45B0-67F5-9348-B996A73CA2A0}"/>
              </a:ext>
            </a:extLst>
          </p:cNvPr>
          <p:cNvSpPr/>
          <p:nvPr/>
        </p:nvSpPr>
        <p:spPr>
          <a:xfrm>
            <a:off x="6096000" y="1922692"/>
            <a:ext cx="5708429" cy="1899940"/>
          </a:xfrm>
          <a:prstGeom prst="rect">
            <a:avLst/>
          </a:prstGeom>
          <a:noFill/>
          <a:ln/>
        </p:spPr>
        <p:txBody>
          <a:bodyPr wrap="square" lIns="0" tIns="0" rIns="0" bIns="0" rtlCol="0" anchor="t"/>
          <a:lstStyle/>
          <a:p>
            <a:pPr marL="342900" indent="-342900" algn="just">
              <a:lnSpc>
                <a:spcPts val="2500"/>
              </a:lnSpc>
              <a:buFont typeface="Arial" panose="020B0604020202020204" pitchFamily="34" charset="0"/>
              <a:buChar char="•"/>
            </a:pPr>
            <a:r>
              <a:rPr lang="en-US" sz="2000" dirty="0">
                <a:solidFill>
                  <a:srgbClr val="333F70"/>
                </a:solidFill>
                <a:latin typeface="Arial" panose="020B0604020202020204" pitchFamily="34" charset="0"/>
                <a:ea typeface="Open Sans" pitchFamily="34" charset="-122"/>
                <a:cs typeface="Arial" panose="020B0604020202020204" pitchFamily="34" charset="0"/>
              </a:rPr>
              <a:t>The system was designed using a modular architecture to ensure scalability, maintainability, and organised code structure. The platform accepts various user inputs including text queries, study notes, or uploaded PDF documents.</a:t>
            </a:r>
            <a:endParaRPr lang="en-US" sz="2000" dirty="0">
              <a:latin typeface="Arial" panose="020B0604020202020204" pitchFamily="34" charset="0"/>
              <a:cs typeface="Arial" panose="020B0604020202020204" pitchFamily="34" charset="0"/>
            </a:endParaRPr>
          </a:p>
        </p:txBody>
      </p:sp>
      <p:sp>
        <p:nvSpPr>
          <p:cNvPr id="8" name="Text 5">
            <a:extLst>
              <a:ext uri="{FF2B5EF4-FFF2-40B4-BE49-F238E27FC236}">
                <a16:creationId xmlns:a16="http://schemas.microsoft.com/office/drawing/2014/main" id="{347BE542-66A9-7093-996E-3AC842C0FB7F}"/>
              </a:ext>
            </a:extLst>
          </p:cNvPr>
          <p:cNvSpPr/>
          <p:nvPr/>
        </p:nvSpPr>
        <p:spPr>
          <a:xfrm>
            <a:off x="6096000" y="4001509"/>
            <a:ext cx="5708429" cy="1159166"/>
          </a:xfrm>
          <a:prstGeom prst="rect">
            <a:avLst/>
          </a:prstGeom>
          <a:noFill/>
          <a:ln/>
        </p:spPr>
        <p:txBody>
          <a:bodyPr wrap="square" lIns="0" tIns="0" rIns="0" bIns="0" rtlCol="0" anchor="t"/>
          <a:lstStyle/>
          <a:p>
            <a:pPr marL="342900" indent="-342900" algn="just">
              <a:lnSpc>
                <a:spcPts val="2500"/>
              </a:lnSpc>
              <a:buFont typeface="Arial" panose="020B0604020202020204" pitchFamily="34" charset="0"/>
              <a:buChar char="•"/>
            </a:pPr>
            <a:r>
              <a:rPr lang="en-US" sz="2000" dirty="0">
                <a:solidFill>
                  <a:srgbClr val="333F70"/>
                </a:solidFill>
                <a:latin typeface="Arial" panose="020B0604020202020204" pitchFamily="34" charset="0"/>
                <a:ea typeface="Open Sans" pitchFamily="34" charset="-122"/>
                <a:cs typeface="Arial" panose="020B0604020202020204" pitchFamily="34" charset="0"/>
              </a:rPr>
              <a:t>Streamlit session state maintains chat history, tracks quiz performance, and stores user progress throughout the learning journey.</a:t>
            </a:r>
            <a:endParaRPr lang="en-US" sz="2000" dirty="0">
              <a:latin typeface="Arial" panose="020B0604020202020204" pitchFamily="34" charset="0"/>
              <a:cs typeface="Arial" panose="020B0604020202020204" pitchFamily="34" charset="0"/>
            </a:endParaRPr>
          </a:p>
        </p:txBody>
      </p:sp>
      <p:pic>
        <p:nvPicPr>
          <p:cNvPr id="21" name="Picture 20">
            <a:extLst>
              <a:ext uri="{FF2B5EF4-FFF2-40B4-BE49-F238E27FC236}">
                <a16:creationId xmlns:a16="http://schemas.microsoft.com/office/drawing/2014/main" id="{839A249E-03AF-4883-B683-07F978A00814}"/>
              </a:ext>
            </a:extLst>
          </p:cNvPr>
          <p:cNvPicPr>
            <a:picLocks noChangeAspect="1"/>
          </p:cNvPicPr>
          <p:nvPr/>
        </p:nvPicPr>
        <p:blipFill>
          <a:blip r:embed="rId2"/>
          <a:stretch>
            <a:fillRect/>
          </a:stretch>
        </p:blipFill>
        <p:spPr>
          <a:xfrm>
            <a:off x="581192" y="5279923"/>
            <a:ext cx="11223237" cy="1291502"/>
          </a:xfrm>
          <a:prstGeom prst="rect">
            <a:avLst/>
          </a:prstGeom>
        </p:spPr>
      </p:pic>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Algorithm &amp; Deployment</a:t>
            </a:r>
            <a:endParaRPr lang="en-US" dirty="0"/>
          </a:p>
        </p:txBody>
      </p:sp>
      <p:sp>
        <p:nvSpPr>
          <p:cNvPr id="11" name="TextBox 10">
            <a:extLst>
              <a:ext uri="{FF2B5EF4-FFF2-40B4-BE49-F238E27FC236}">
                <a16:creationId xmlns:a16="http://schemas.microsoft.com/office/drawing/2014/main" id="{48197C29-B901-83BE-6182-448021452254}"/>
              </a:ext>
            </a:extLst>
          </p:cNvPr>
          <p:cNvSpPr txBox="1"/>
          <p:nvPr/>
        </p:nvSpPr>
        <p:spPr>
          <a:xfrm>
            <a:off x="581191" y="1019596"/>
            <a:ext cx="6096000" cy="491160"/>
          </a:xfrm>
          <a:prstGeom prst="rect">
            <a:avLst/>
          </a:prstGeom>
          <a:noFill/>
        </p:spPr>
        <p:txBody>
          <a:bodyPr wrap="square">
            <a:spAutoFit/>
          </a:bodyPr>
          <a:lstStyle/>
          <a:p>
            <a:pPr marL="0" indent="0" algn="l">
              <a:lnSpc>
                <a:spcPts val="3600"/>
              </a:lnSpc>
              <a:buNone/>
            </a:pPr>
            <a:r>
              <a:rPr lang="en-US" sz="1800" b="1" dirty="0">
                <a:solidFill>
                  <a:srgbClr val="333F70"/>
                </a:solidFill>
                <a:latin typeface="Arial" panose="020B0604020202020204" pitchFamily="34" charset="0"/>
                <a:ea typeface="Unbounded Bold" pitchFamily="34" charset="-122"/>
                <a:cs typeface="Arial" panose="020B0604020202020204" pitchFamily="34" charset="0"/>
              </a:rPr>
              <a:t>Algorithm (System Workflow)</a:t>
            </a:r>
            <a:endParaRPr lang="en-US" sz="1800" dirty="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E61DDC59-B1FA-A0F0-3AA9-7786613237AB}"/>
              </a:ext>
            </a:extLst>
          </p:cNvPr>
          <p:cNvSpPr txBox="1"/>
          <p:nvPr/>
        </p:nvSpPr>
        <p:spPr>
          <a:xfrm>
            <a:off x="581191" y="1510756"/>
            <a:ext cx="11029615" cy="503984"/>
          </a:xfrm>
          <a:prstGeom prst="rect">
            <a:avLst/>
          </a:prstGeom>
          <a:noFill/>
        </p:spPr>
        <p:txBody>
          <a:bodyPr wrap="square">
            <a:spAutoFit/>
          </a:bodyPr>
          <a:lstStyle/>
          <a:p>
            <a:pPr marL="0" indent="540000" algn="just">
              <a:lnSpc>
                <a:spcPts val="1600"/>
              </a:lnSpc>
              <a:buNone/>
            </a:pPr>
            <a:r>
              <a:rPr lang="en-US" sz="1400" dirty="0">
                <a:solidFill>
                  <a:srgbClr val="333F70"/>
                </a:solidFill>
                <a:latin typeface="Arial" panose="020B0604020202020204" pitchFamily="34" charset="0"/>
                <a:ea typeface="Open Sans" pitchFamily="34" charset="-122"/>
                <a:cs typeface="Arial" panose="020B0604020202020204" pitchFamily="34" charset="0"/>
              </a:rPr>
              <a:t>The Mini AI Study Buddy follows a systematic workflow to provide seamless and intelligent assistance to students. Each stage is crucial in transforming user input into valuable learning resources.</a:t>
            </a:r>
            <a:endParaRPr lang="en-US" sz="1400" dirty="0">
              <a:latin typeface="Arial" panose="020B0604020202020204" pitchFamily="34" charset="0"/>
              <a:cs typeface="Arial" panose="020B0604020202020204" pitchFamily="34" charset="0"/>
            </a:endParaRPr>
          </a:p>
        </p:txBody>
      </p:sp>
      <p:pic>
        <p:nvPicPr>
          <p:cNvPr id="15" name="Picture 14">
            <a:extLst>
              <a:ext uri="{FF2B5EF4-FFF2-40B4-BE49-F238E27FC236}">
                <a16:creationId xmlns:a16="http://schemas.microsoft.com/office/drawing/2014/main" id="{3789B2FA-9DE4-8AA0-37B9-979B819D1356}"/>
              </a:ext>
            </a:extLst>
          </p:cNvPr>
          <p:cNvPicPr>
            <a:picLocks noChangeAspect="1"/>
          </p:cNvPicPr>
          <p:nvPr/>
        </p:nvPicPr>
        <p:blipFill>
          <a:blip r:embed="rId2"/>
          <a:stretch>
            <a:fillRect/>
          </a:stretch>
        </p:blipFill>
        <p:spPr>
          <a:xfrm>
            <a:off x="581191" y="2047464"/>
            <a:ext cx="11306009" cy="4665768"/>
          </a:xfrm>
          <a:prstGeom prst="rect">
            <a:avLst/>
          </a:prstGeom>
        </p:spPr>
      </p:pic>
    </p:spTree>
    <p:extLst>
      <p:ext uri="{BB962C8B-B14F-4D97-AF65-F5344CB8AC3E}">
        <p14:creationId xmlns:p14="http://schemas.microsoft.com/office/powerpoint/2010/main" val="4154508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9765075-DFD6-D41D-6290-F3E59A97B6ED}"/>
              </a:ext>
            </a:extLst>
          </p:cNvPr>
          <p:cNvSpPr txBox="1"/>
          <p:nvPr/>
        </p:nvSpPr>
        <p:spPr>
          <a:xfrm>
            <a:off x="452283" y="641243"/>
            <a:ext cx="6096000" cy="984885"/>
          </a:xfrm>
          <a:prstGeom prst="rect">
            <a:avLst/>
          </a:prstGeom>
          <a:noFill/>
        </p:spPr>
        <p:txBody>
          <a:bodyPr wrap="square">
            <a:spAutoFit/>
          </a:bodyPr>
          <a:lstStyle/>
          <a:p>
            <a:r>
              <a:rPr lang="en-US" sz="4000" b="1" dirty="0">
                <a:solidFill>
                  <a:schemeClr val="accent1">
                    <a:lumMod val="60000"/>
                    <a:lumOff val="40000"/>
                  </a:schemeClr>
                </a:solidFill>
                <a:latin typeface="Unbounded Bold" pitchFamily="34" charset="0"/>
                <a:ea typeface="Unbounded Bold" pitchFamily="34" charset="-122"/>
                <a:cs typeface="Unbounded Bold" pitchFamily="34" charset="-120"/>
              </a:rPr>
              <a:t>Deployment</a:t>
            </a:r>
            <a:endParaRPr lang="en-US" sz="4000" dirty="0">
              <a:solidFill>
                <a:schemeClr val="accent1">
                  <a:lumMod val="60000"/>
                  <a:lumOff val="40000"/>
                </a:schemeClr>
              </a:solidFill>
            </a:endParaRPr>
          </a:p>
          <a:p>
            <a:endParaRPr lang="en-IN" dirty="0"/>
          </a:p>
        </p:txBody>
      </p:sp>
      <p:sp>
        <p:nvSpPr>
          <p:cNvPr id="4" name="Text 1">
            <a:extLst>
              <a:ext uri="{FF2B5EF4-FFF2-40B4-BE49-F238E27FC236}">
                <a16:creationId xmlns:a16="http://schemas.microsoft.com/office/drawing/2014/main" id="{C6A0736A-5DF3-3F80-7F5A-56679DD1DD15}"/>
              </a:ext>
            </a:extLst>
          </p:cNvPr>
          <p:cNvSpPr/>
          <p:nvPr/>
        </p:nvSpPr>
        <p:spPr>
          <a:xfrm>
            <a:off x="569052" y="1306437"/>
            <a:ext cx="11053891" cy="635079"/>
          </a:xfrm>
          <a:prstGeom prst="rect">
            <a:avLst/>
          </a:prstGeom>
          <a:noFill/>
          <a:ln/>
        </p:spPr>
        <p:txBody>
          <a:bodyPr wrap="square" lIns="0" tIns="0" rIns="0" bIns="0" rtlCol="0" anchor="t"/>
          <a:lstStyle/>
          <a:p>
            <a:pPr marL="0" indent="457200" algn="just">
              <a:lnSpc>
                <a:spcPts val="2500"/>
              </a:lnSpc>
              <a:buNone/>
            </a:pPr>
            <a:r>
              <a:rPr lang="en-US" sz="2000" dirty="0">
                <a:solidFill>
                  <a:srgbClr val="333F70"/>
                </a:solidFill>
                <a:latin typeface="Arial" panose="020B0604020202020204" pitchFamily="34" charset="0"/>
                <a:ea typeface="Open Sans" pitchFamily="34" charset="-122"/>
                <a:cs typeface="Arial" panose="020B0604020202020204" pitchFamily="34" charset="0"/>
              </a:rPr>
              <a:t>Mini AI Study Buddy is designed for flexible and efficient deployment, ensuring broad accessibility and seamless user interaction through its robust architecture.</a:t>
            </a:r>
            <a:endParaRPr lang="en-US" sz="20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CADD3370-F9A5-F0B4-825E-5971983C7DFF}"/>
              </a:ext>
            </a:extLst>
          </p:cNvPr>
          <p:cNvPicPr>
            <a:picLocks noChangeAspect="1"/>
          </p:cNvPicPr>
          <p:nvPr/>
        </p:nvPicPr>
        <p:blipFill>
          <a:blip r:embed="rId2"/>
          <a:stretch>
            <a:fillRect/>
          </a:stretch>
        </p:blipFill>
        <p:spPr>
          <a:xfrm>
            <a:off x="569052" y="1939365"/>
            <a:ext cx="11132549" cy="3851835"/>
          </a:xfrm>
          <a:prstGeom prst="rect">
            <a:avLst/>
          </a:prstGeom>
        </p:spPr>
      </p:pic>
      <p:sp>
        <p:nvSpPr>
          <p:cNvPr id="6" name="Text 10">
            <a:extLst>
              <a:ext uri="{FF2B5EF4-FFF2-40B4-BE49-F238E27FC236}">
                <a16:creationId xmlns:a16="http://schemas.microsoft.com/office/drawing/2014/main" id="{469A5254-2559-BC12-0287-462AD7AB2233}"/>
              </a:ext>
            </a:extLst>
          </p:cNvPr>
          <p:cNvSpPr/>
          <p:nvPr/>
        </p:nvSpPr>
        <p:spPr>
          <a:xfrm>
            <a:off x="647710" y="5721311"/>
            <a:ext cx="11053891" cy="990892"/>
          </a:xfrm>
          <a:prstGeom prst="rect">
            <a:avLst/>
          </a:prstGeom>
          <a:noFill/>
          <a:ln/>
        </p:spPr>
        <p:txBody>
          <a:bodyPr wrap="square" lIns="0" tIns="0" rIns="0" bIns="0" rtlCol="0" anchor="t"/>
          <a:lstStyle/>
          <a:p>
            <a:pPr marL="0" indent="457200" algn="just">
              <a:lnSpc>
                <a:spcPts val="2500"/>
              </a:lnSpc>
              <a:buNone/>
            </a:pPr>
            <a:r>
              <a:rPr lang="en-US" sz="2000" dirty="0">
                <a:solidFill>
                  <a:srgbClr val="333F70"/>
                </a:solidFill>
                <a:latin typeface="Arial" panose="020B0604020202020204" pitchFamily="34" charset="0"/>
                <a:ea typeface="Open Sans" pitchFamily="34" charset="-122"/>
                <a:cs typeface="Arial" panose="020B0604020202020204" pitchFamily="34" charset="0"/>
              </a:rPr>
              <a:t>This strategic deployment approach guarantees that students can access the Mini AI Study Buddy effectively, whether from a personal device or a shared online environment, facilitating consistent and powerful AI support.</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266717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Result</a:t>
            </a:r>
            <a:endParaRPr lang="en-US" dirty="0"/>
          </a:p>
        </p:txBody>
      </p:sp>
      <p:sp>
        <p:nvSpPr>
          <p:cNvPr id="2" name="Text 1">
            <a:extLst>
              <a:ext uri="{FF2B5EF4-FFF2-40B4-BE49-F238E27FC236}">
                <a16:creationId xmlns:a16="http://schemas.microsoft.com/office/drawing/2014/main" id="{7EFD447A-30B7-EF84-1EDA-0348CD6137A3}"/>
              </a:ext>
            </a:extLst>
          </p:cNvPr>
          <p:cNvSpPr/>
          <p:nvPr/>
        </p:nvSpPr>
        <p:spPr>
          <a:xfrm>
            <a:off x="581192" y="1232452"/>
            <a:ext cx="11289298" cy="952619"/>
          </a:xfrm>
          <a:prstGeom prst="rect">
            <a:avLst/>
          </a:prstGeom>
          <a:noFill/>
          <a:ln/>
        </p:spPr>
        <p:txBody>
          <a:bodyPr wrap="square" lIns="0" tIns="0" rIns="0" bIns="0" rtlCol="0" anchor="t"/>
          <a:lstStyle/>
          <a:p>
            <a:pPr marL="0" indent="457200" algn="just">
              <a:lnSpc>
                <a:spcPts val="2500"/>
              </a:lnSpc>
              <a:buNone/>
            </a:pPr>
            <a:r>
              <a:rPr lang="en-US" sz="2000" dirty="0">
                <a:solidFill>
                  <a:srgbClr val="333F70"/>
                </a:solidFill>
                <a:latin typeface="Arial" panose="020B0604020202020204" pitchFamily="34" charset="0"/>
                <a:ea typeface="Open Sans" pitchFamily="34" charset="-122"/>
                <a:cs typeface="Arial" panose="020B0604020202020204" pitchFamily="34" charset="0"/>
              </a:rPr>
              <a:t>The Mini AI Study Buddy application was successfully developed and tested as an interactive AI-based learning platform. The system effectively provides AI-generated explanations for complex concepts through the AI Tutor feature.</a:t>
            </a:r>
            <a:endParaRPr lang="en-US" sz="2000" dirty="0">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065D9298-67C6-C4FA-7A00-1A197DFB0C28}"/>
              </a:ext>
            </a:extLst>
          </p:cNvPr>
          <p:cNvPicPr>
            <a:picLocks noChangeAspect="1"/>
          </p:cNvPicPr>
          <p:nvPr/>
        </p:nvPicPr>
        <p:blipFill>
          <a:blip r:embed="rId2"/>
          <a:stretch>
            <a:fillRect/>
          </a:stretch>
        </p:blipFill>
        <p:spPr>
          <a:xfrm>
            <a:off x="581192" y="2185071"/>
            <a:ext cx="11289298" cy="3830873"/>
          </a:xfrm>
          <a:prstGeom prst="rect">
            <a:avLst/>
          </a:prstGeom>
        </p:spPr>
      </p:pic>
      <p:sp>
        <p:nvSpPr>
          <p:cNvPr id="21" name="Text 12">
            <a:extLst>
              <a:ext uri="{FF2B5EF4-FFF2-40B4-BE49-F238E27FC236}">
                <a16:creationId xmlns:a16="http://schemas.microsoft.com/office/drawing/2014/main" id="{9090AFE1-9D6A-4D94-4FB8-9C02547909D6}"/>
              </a:ext>
            </a:extLst>
          </p:cNvPr>
          <p:cNvSpPr/>
          <p:nvPr/>
        </p:nvSpPr>
        <p:spPr>
          <a:xfrm>
            <a:off x="650018" y="6015944"/>
            <a:ext cx="11289298" cy="635079"/>
          </a:xfrm>
          <a:prstGeom prst="rect">
            <a:avLst/>
          </a:prstGeom>
          <a:noFill/>
          <a:ln/>
        </p:spPr>
        <p:txBody>
          <a:bodyPr wrap="square" lIns="0" tIns="0" rIns="0" bIns="0" rtlCol="0" anchor="t"/>
          <a:lstStyle/>
          <a:p>
            <a:pPr marL="0" indent="457200" algn="just">
              <a:lnSpc>
                <a:spcPts val="2500"/>
              </a:lnSpc>
              <a:buNone/>
            </a:pPr>
            <a:r>
              <a:rPr lang="en-US" sz="2000" dirty="0">
                <a:solidFill>
                  <a:srgbClr val="333F70"/>
                </a:solidFill>
                <a:latin typeface="Arial" panose="020B0604020202020204" pitchFamily="34" charset="0"/>
                <a:ea typeface="Open Sans" pitchFamily="34" charset="-122"/>
                <a:cs typeface="Arial" panose="020B0604020202020204" pitchFamily="34" charset="0"/>
              </a:rPr>
              <a:t>Overall, the system improves learning efficiency, engagement, and self-study experience for students by providing a comprehensive suite of intelligent learning tools.</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83293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B4B5667-A8F3-2F38-A7C7-267198769923}"/>
              </a:ext>
            </a:extLst>
          </p:cNvPr>
          <p:cNvSpPr txBox="1"/>
          <p:nvPr/>
        </p:nvSpPr>
        <p:spPr>
          <a:xfrm>
            <a:off x="355600" y="606475"/>
            <a:ext cx="11369040" cy="461665"/>
          </a:xfrm>
          <a:prstGeom prst="rect">
            <a:avLst/>
          </a:prstGeom>
          <a:noFill/>
        </p:spPr>
        <p:txBody>
          <a:bodyPr wrap="square">
            <a:spAutoFit/>
          </a:bodyPr>
          <a:lstStyle/>
          <a:p>
            <a:r>
              <a:rPr lang="en-US" sz="2400" b="1" dirty="0">
                <a:solidFill>
                  <a:srgbClr val="002060"/>
                </a:solidFill>
                <a:latin typeface="Arial" panose="020B0604020202020204" pitchFamily="34" charset="0"/>
                <a:cs typeface="Arial" panose="020B0604020202020204" pitchFamily="34" charset="0"/>
              </a:rPr>
              <a:t>Mini AI Study Buddy – Live Web Application (</a:t>
            </a:r>
            <a:r>
              <a:rPr lang="en-US" sz="2400" b="1" dirty="0" err="1">
                <a:solidFill>
                  <a:srgbClr val="002060"/>
                </a:solidFill>
                <a:latin typeface="Arial" panose="020B0604020202020204" pitchFamily="34" charset="0"/>
                <a:cs typeface="Arial" panose="020B0604020202020204" pitchFamily="34" charset="0"/>
              </a:rPr>
              <a:t>Streamlit</a:t>
            </a:r>
            <a:r>
              <a:rPr lang="en-US" sz="2400" b="1" dirty="0">
                <a:solidFill>
                  <a:srgbClr val="002060"/>
                </a:solidFill>
                <a:latin typeface="Arial" panose="020B0604020202020204" pitchFamily="34" charset="0"/>
                <a:cs typeface="Arial" panose="020B0604020202020204" pitchFamily="34" charset="0"/>
              </a:rPr>
              <a:t> Deployment)</a:t>
            </a:r>
            <a:endParaRPr lang="en-IN" sz="2400" b="1" dirty="0">
              <a:solidFill>
                <a:srgbClr val="002060"/>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06E49D71-28FA-3BCA-7B87-FB04E0289483}"/>
              </a:ext>
            </a:extLst>
          </p:cNvPr>
          <p:cNvPicPr>
            <a:picLocks noChangeAspect="1"/>
          </p:cNvPicPr>
          <p:nvPr/>
        </p:nvPicPr>
        <p:blipFill>
          <a:blip r:embed="rId2"/>
          <a:stretch>
            <a:fillRect/>
          </a:stretch>
        </p:blipFill>
        <p:spPr>
          <a:xfrm>
            <a:off x="467360" y="1068140"/>
            <a:ext cx="5699760" cy="2766060"/>
          </a:xfrm>
          <a:prstGeom prst="rect">
            <a:avLst/>
          </a:prstGeom>
        </p:spPr>
      </p:pic>
      <p:pic>
        <p:nvPicPr>
          <p:cNvPr id="11" name="Picture 10">
            <a:extLst>
              <a:ext uri="{FF2B5EF4-FFF2-40B4-BE49-F238E27FC236}">
                <a16:creationId xmlns:a16="http://schemas.microsoft.com/office/drawing/2014/main" id="{B16D207B-70D4-69D8-2D5F-4EBB7F50DAA4}"/>
              </a:ext>
            </a:extLst>
          </p:cNvPr>
          <p:cNvPicPr>
            <a:picLocks noChangeAspect="1"/>
          </p:cNvPicPr>
          <p:nvPr/>
        </p:nvPicPr>
        <p:blipFill>
          <a:blip r:embed="rId3"/>
          <a:stretch>
            <a:fillRect/>
          </a:stretch>
        </p:blipFill>
        <p:spPr>
          <a:xfrm>
            <a:off x="6278880" y="1068140"/>
            <a:ext cx="5699760" cy="2766060"/>
          </a:xfrm>
          <a:prstGeom prst="rect">
            <a:avLst/>
          </a:prstGeom>
        </p:spPr>
      </p:pic>
      <p:pic>
        <p:nvPicPr>
          <p:cNvPr id="13" name="Picture 12">
            <a:extLst>
              <a:ext uri="{FF2B5EF4-FFF2-40B4-BE49-F238E27FC236}">
                <a16:creationId xmlns:a16="http://schemas.microsoft.com/office/drawing/2014/main" id="{D081CDBB-7F82-12F2-32F9-728CB3655F5B}"/>
              </a:ext>
            </a:extLst>
          </p:cNvPr>
          <p:cNvPicPr>
            <a:picLocks noChangeAspect="1"/>
          </p:cNvPicPr>
          <p:nvPr/>
        </p:nvPicPr>
        <p:blipFill>
          <a:blip r:embed="rId4"/>
          <a:stretch>
            <a:fillRect/>
          </a:stretch>
        </p:blipFill>
        <p:spPr>
          <a:xfrm>
            <a:off x="467360" y="3973900"/>
            <a:ext cx="5699760" cy="2766060"/>
          </a:xfrm>
          <a:prstGeom prst="rect">
            <a:avLst/>
          </a:prstGeom>
        </p:spPr>
      </p:pic>
      <p:pic>
        <p:nvPicPr>
          <p:cNvPr id="15" name="Picture 14">
            <a:extLst>
              <a:ext uri="{FF2B5EF4-FFF2-40B4-BE49-F238E27FC236}">
                <a16:creationId xmlns:a16="http://schemas.microsoft.com/office/drawing/2014/main" id="{5A5E20FF-4C5F-8797-E692-503182824745}"/>
              </a:ext>
            </a:extLst>
          </p:cNvPr>
          <p:cNvPicPr>
            <a:picLocks noChangeAspect="1"/>
          </p:cNvPicPr>
          <p:nvPr/>
        </p:nvPicPr>
        <p:blipFill>
          <a:blip r:embed="rId5"/>
          <a:stretch>
            <a:fillRect/>
          </a:stretch>
        </p:blipFill>
        <p:spPr>
          <a:xfrm>
            <a:off x="6360160" y="3973900"/>
            <a:ext cx="5699760" cy="2766060"/>
          </a:xfrm>
          <a:prstGeom prst="rect">
            <a:avLst/>
          </a:prstGeom>
        </p:spPr>
      </p:pic>
    </p:spTree>
    <p:extLst>
      <p:ext uri="{BB962C8B-B14F-4D97-AF65-F5344CB8AC3E}">
        <p14:creationId xmlns:p14="http://schemas.microsoft.com/office/powerpoint/2010/main" val="9014913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4ACA8D4-462E-14ED-7DCC-EAE83F87E613}"/>
              </a:ext>
            </a:extLst>
          </p:cNvPr>
          <p:cNvPicPr>
            <a:picLocks noChangeAspect="1"/>
          </p:cNvPicPr>
          <p:nvPr/>
        </p:nvPicPr>
        <p:blipFill>
          <a:blip r:embed="rId2"/>
          <a:stretch>
            <a:fillRect/>
          </a:stretch>
        </p:blipFill>
        <p:spPr>
          <a:xfrm>
            <a:off x="457200" y="703580"/>
            <a:ext cx="5181600" cy="2725420"/>
          </a:xfrm>
          <a:prstGeom prst="rect">
            <a:avLst/>
          </a:prstGeom>
        </p:spPr>
      </p:pic>
      <p:pic>
        <p:nvPicPr>
          <p:cNvPr id="5" name="Picture 4">
            <a:extLst>
              <a:ext uri="{FF2B5EF4-FFF2-40B4-BE49-F238E27FC236}">
                <a16:creationId xmlns:a16="http://schemas.microsoft.com/office/drawing/2014/main" id="{3BD177AE-9BD5-3410-4376-0048A7196B75}"/>
              </a:ext>
            </a:extLst>
          </p:cNvPr>
          <p:cNvPicPr>
            <a:picLocks noChangeAspect="1"/>
          </p:cNvPicPr>
          <p:nvPr/>
        </p:nvPicPr>
        <p:blipFill>
          <a:blip r:embed="rId3"/>
          <a:stretch>
            <a:fillRect/>
          </a:stretch>
        </p:blipFill>
        <p:spPr>
          <a:xfrm>
            <a:off x="6096000" y="703580"/>
            <a:ext cx="5638800" cy="2725420"/>
          </a:xfrm>
          <a:prstGeom prst="rect">
            <a:avLst/>
          </a:prstGeom>
        </p:spPr>
      </p:pic>
      <p:pic>
        <p:nvPicPr>
          <p:cNvPr id="7" name="Picture 6">
            <a:extLst>
              <a:ext uri="{FF2B5EF4-FFF2-40B4-BE49-F238E27FC236}">
                <a16:creationId xmlns:a16="http://schemas.microsoft.com/office/drawing/2014/main" id="{295B490A-CF7B-94DE-CB60-6A074C8313FB}"/>
              </a:ext>
            </a:extLst>
          </p:cNvPr>
          <p:cNvPicPr>
            <a:picLocks noChangeAspect="1"/>
          </p:cNvPicPr>
          <p:nvPr/>
        </p:nvPicPr>
        <p:blipFill>
          <a:blip r:embed="rId4"/>
          <a:stretch>
            <a:fillRect/>
          </a:stretch>
        </p:blipFill>
        <p:spPr>
          <a:xfrm>
            <a:off x="457200" y="3649980"/>
            <a:ext cx="5181600" cy="2725420"/>
          </a:xfrm>
          <a:prstGeom prst="rect">
            <a:avLst/>
          </a:prstGeom>
        </p:spPr>
      </p:pic>
      <p:pic>
        <p:nvPicPr>
          <p:cNvPr id="9" name="Picture 8">
            <a:extLst>
              <a:ext uri="{FF2B5EF4-FFF2-40B4-BE49-F238E27FC236}">
                <a16:creationId xmlns:a16="http://schemas.microsoft.com/office/drawing/2014/main" id="{26F70496-AAFC-3CA0-601D-692C173F3EF7}"/>
              </a:ext>
            </a:extLst>
          </p:cNvPr>
          <p:cNvPicPr>
            <a:picLocks noChangeAspect="1"/>
          </p:cNvPicPr>
          <p:nvPr/>
        </p:nvPicPr>
        <p:blipFill>
          <a:blip r:embed="rId5"/>
          <a:stretch>
            <a:fillRect/>
          </a:stretch>
        </p:blipFill>
        <p:spPr>
          <a:xfrm>
            <a:off x="6096000" y="3649980"/>
            <a:ext cx="5638800" cy="2725420"/>
          </a:xfrm>
          <a:prstGeom prst="rect">
            <a:avLst/>
          </a:prstGeom>
        </p:spPr>
      </p:pic>
    </p:spTree>
    <p:extLst>
      <p:ext uri="{BB962C8B-B14F-4D97-AF65-F5344CB8AC3E}">
        <p14:creationId xmlns:p14="http://schemas.microsoft.com/office/powerpoint/2010/main" val="38103070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pic>
        <p:nvPicPr>
          <p:cNvPr id="17" name="Picture 16">
            <a:extLst>
              <a:ext uri="{FF2B5EF4-FFF2-40B4-BE49-F238E27FC236}">
                <a16:creationId xmlns:a16="http://schemas.microsoft.com/office/drawing/2014/main" id="{25EABFEF-324F-70E4-8BDA-2AB5CF5C4787}"/>
              </a:ext>
            </a:extLst>
          </p:cNvPr>
          <p:cNvPicPr>
            <a:picLocks noChangeAspect="1"/>
          </p:cNvPicPr>
          <p:nvPr/>
        </p:nvPicPr>
        <p:blipFill>
          <a:blip r:embed="rId2"/>
          <a:stretch>
            <a:fillRect/>
          </a:stretch>
        </p:blipFill>
        <p:spPr>
          <a:xfrm>
            <a:off x="581192" y="1232453"/>
            <a:ext cx="11168356" cy="5109354"/>
          </a:xfrm>
          <a:prstGeom prst="rect">
            <a:avLst/>
          </a:prstGeom>
        </p:spPr>
      </p:pic>
    </p:spTree>
    <p:extLst>
      <p:ext uri="{BB962C8B-B14F-4D97-AF65-F5344CB8AC3E}">
        <p14:creationId xmlns:p14="http://schemas.microsoft.com/office/powerpoint/2010/main" val="3183315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968F13-9AC4-7120-7ACD-9F752C767D5D}"/>
              </a:ext>
            </a:extLst>
          </p:cNvPr>
          <p:cNvSpPr txBox="1">
            <a:spLocks/>
          </p:cNvSpPr>
          <p:nvPr/>
        </p:nvSpPr>
        <p:spPr>
          <a:xfrm>
            <a:off x="398019" y="686061"/>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pic>
        <p:nvPicPr>
          <p:cNvPr id="2" name="Picture 1">
            <a:extLst>
              <a:ext uri="{FF2B5EF4-FFF2-40B4-BE49-F238E27FC236}">
                <a16:creationId xmlns:a16="http://schemas.microsoft.com/office/drawing/2014/main" id="{A02B7702-BD2E-88E1-4B8E-DFE93B27E09A}"/>
              </a:ext>
            </a:extLst>
          </p:cNvPr>
          <p:cNvPicPr>
            <a:picLocks noChangeAspect="1"/>
          </p:cNvPicPr>
          <p:nvPr/>
        </p:nvPicPr>
        <p:blipFill>
          <a:blip r:embed="rId2"/>
          <a:stretch>
            <a:fillRect/>
          </a:stretch>
        </p:blipFill>
        <p:spPr>
          <a:xfrm>
            <a:off x="398019" y="1081548"/>
            <a:ext cx="11217612" cy="5604388"/>
          </a:xfrm>
          <a:prstGeom prst="rect">
            <a:avLst/>
          </a:prstGeom>
        </p:spPr>
      </p:pic>
    </p:spTree>
    <p:extLst>
      <p:ext uri="{BB962C8B-B14F-4D97-AF65-F5344CB8AC3E}">
        <p14:creationId xmlns:p14="http://schemas.microsoft.com/office/powerpoint/2010/main" val="6148826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References</a:t>
            </a:r>
            <a:endParaRPr lang="en-US" dirty="0"/>
          </a:p>
        </p:txBody>
      </p:sp>
      <p:sp>
        <p:nvSpPr>
          <p:cNvPr id="25" name="Shape 1">
            <a:extLst>
              <a:ext uri="{FF2B5EF4-FFF2-40B4-BE49-F238E27FC236}">
                <a16:creationId xmlns:a16="http://schemas.microsoft.com/office/drawing/2014/main" id="{7DC84DED-468F-0D4F-9499-7C7C32FDFB90}"/>
              </a:ext>
            </a:extLst>
          </p:cNvPr>
          <p:cNvSpPr/>
          <p:nvPr/>
        </p:nvSpPr>
        <p:spPr>
          <a:xfrm>
            <a:off x="581193" y="1395889"/>
            <a:ext cx="5445982" cy="1943338"/>
          </a:xfrm>
          <a:prstGeom prst="roundRect">
            <a:avLst>
              <a:gd name="adj" fmla="val 4289"/>
            </a:avLst>
          </a:prstGeom>
          <a:solidFill>
            <a:srgbClr val="FFFFFF"/>
          </a:solidFill>
          <a:ln w="22860">
            <a:solidFill>
              <a:srgbClr val="BCDBD4"/>
            </a:solidFill>
            <a:prstDash val="solid"/>
          </a:ln>
        </p:spPr>
      </p:sp>
      <p:sp>
        <p:nvSpPr>
          <p:cNvPr id="26" name="Text 2">
            <a:extLst>
              <a:ext uri="{FF2B5EF4-FFF2-40B4-BE49-F238E27FC236}">
                <a16:creationId xmlns:a16="http://schemas.microsoft.com/office/drawing/2014/main" id="{6B1995FB-0AE7-EF1D-6BC8-1DAE0A8F745E}"/>
              </a:ext>
            </a:extLst>
          </p:cNvPr>
          <p:cNvSpPr/>
          <p:nvPr/>
        </p:nvSpPr>
        <p:spPr>
          <a:xfrm>
            <a:off x="802410" y="1617107"/>
            <a:ext cx="3085249" cy="310158"/>
          </a:xfrm>
          <a:prstGeom prst="rect">
            <a:avLst/>
          </a:prstGeom>
          <a:noFill/>
          <a:ln/>
        </p:spPr>
        <p:txBody>
          <a:bodyPr wrap="none" lIns="0" tIns="0" rIns="0" bIns="0" rtlCol="0" anchor="t"/>
          <a:lstStyle/>
          <a:p>
            <a:pPr marL="0" indent="0" algn="l">
              <a:lnSpc>
                <a:spcPts val="2400"/>
              </a:lnSpc>
              <a:buNone/>
            </a:pPr>
            <a:r>
              <a:rPr lang="en-US" sz="2000" b="1" dirty="0">
                <a:solidFill>
                  <a:srgbClr val="333F70"/>
                </a:solidFill>
                <a:latin typeface="Arial" panose="020B0604020202020204" pitchFamily="34" charset="0"/>
                <a:ea typeface="Unbounded Bold" pitchFamily="34" charset="-122"/>
                <a:cs typeface="Arial" panose="020B0604020202020204" pitchFamily="34" charset="0"/>
              </a:rPr>
              <a:t>Python Documentation</a:t>
            </a:r>
            <a:endParaRPr lang="en-US" sz="2000" dirty="0">
              <a:latin typeface="Arial" panose="020B0604020202020204" pitchFamily="34" charset="0"/>
              <a:cs typeface="Arial" panose="020B0604020202020204" pitchFamily="34" charset="0"/>
            </a:endParaRPr>
          </a:p>
        </p:txBody>
      </p:sp>
      <p:sp>
        <p:nvSpPr>
          <p:cNvPr id="27" name="Text 3">
            <a:extLst>
              <a:ext uri="{FF2B5EF4-FFF2-40B4-BE49-F238E27FC236}">
                <a16:creationId xmlns:a16="http://schemas.microsoft.com/office/drawing/2014/main" id="{EFDC242C-04AF-6B6B-2FD7-B5B2CF1FA6B1}"/>
              </a:ext>
            </a:extLst>
          </p:cNvPr>
          <p:cNvSpPr/>
          <p:nvPr/>
        </p:nvSpPr>
        <p:spPr>
          <a:xfrm>
            <a:off x="802410" y="2046327"/>
            <a:ext cx="5070801" cy="635079"/>
          </a:xfrm>
          <a:prstGeom prst="rect">
            <a:avLst/>
          </a:prstGeom>
          <a:noFill/>
          <a:ln/>
        </p:spPr>
        <p:txBody>
          <a:bodyPr wrap="square" lIns="0" tIns="0" rIns="0" bIns="0" rtlCol="0" anchor="t"/>
          <a:lstStyle/>
          <a:p>
            <a:pPr marL="0" indent="0" algn="l">
              <a:lnSpc>
                <a:spcPts val="2500"/>
              </a:lnSpc>
              <a:buNone/>
            </a:pPr>
            <a:r>
              <a:rPr lang="en-US" sz="2000" dirty="0">
                <a:solidFill>
                  <a:srgbClr val="333F70"/>
                </a:solidFill>
                <a:latin typeface="Arial" panose="020B0604020202020204" pitchFamily="34" charset="0"/>
                <a:ea typeface="Open Sans" pitchFamily="34" charset="-122"/>
                <a:cs typeface="Arial" panose="020B0604020202020204" pitchFamily="34" charset="0"/>
              </a:rPr>
              <a:t>Official Python programming language documentation and resources</a:t>
            </a:r>
            <a:endParaRPr lang="en-US" sz="2000" dirty="0">
              <a:latin typeface="Arial" panose="020B0604020202020204" pitchFamily="34" charset="0"/>
              <a:cs typeface="Arial" panose="020B0604020202020204" pitchFamily="34" charset="0"/>
            </a:endParaRPr>
          </a:p>
        </p:txBody>
      </p:sp>
      <p:sp>
        <p:nvSpPr>
          <p:cNvPr id="28" name="Text 4">
            <a:extLst>
              <a:ext uri="{FF2B5EF4-FFF2-40B4-BE49-F238E27FC236}">
                <a16:creationId xmlns:a16="http://schemas.microsoft.com/office/drawing/2014/main" id="{1892E02C-D3DC-F8DE-D350-6F7345EF5C52}"/>
              </a:ext>
            </a:extLst>
          </p:cNvPr>
          <p:cNvSpPr/>
          <p:nvPr/>
        </p:nvSpPr>
        <p:spPr>
          <a:xfrm>
            <a:off x="802410" y="2800469"/>
            <a:ext cx="5070801" cy="317540"/>
          </a:xfrm>
          <a:prstGeom prst="rect">
            <a:avLst/>
          </a:prstGeom>
          <a:noFill/>
          <a:ln/>
        </p:spPr>
        <p:txBody>
          <a:bodyPr wrap="none" lIns="0" tIns="0" rIns="0" bIns="0" rtlCol="0" anchor="t"/>
          <a:lstStyle/>
          <a:p>
            <a:pPr marL="0" indent="0" algn="l">
              <a:lnSpc>
                <a:spcPts val="2500"/>
              </a:lnSpc>
              <a:buNone/>
            </a:pPr>
            <a:r>
              <a:rPr lang="en-US" sz="2000" u="sng" dirty="0">
                <a:solidFill>
                  <a:srgbClr val="26A688"/>
                </a:solidFill>
                <a:latin typeface="Arial" panose="020B0604020202020204" pitchFamily="34" charset="0"/>
                <a:ea typeface="Open Sans" pitchFamily="34" charset="-122"/>
                <a:cs typeface="Arial" panose="020B0604020202020204" pitchFamily="34" charset="0"/>
                <a:hlinkClick r:id="rId2">
                  <a:extLst>
                    <a:ext uri="{A12FA001-AC4F-418D-AE19-62706E023703}">
                      <ahyp:hlinkClr xmlns:ahyp="http://schemas.microsoft.com/office/drawing/2018/hyperlinkcolor" val="tx"/>
                    </a:ext>
                  </a:extLst>
                </a:hlinkClick>
              </a:rPr>
              <a:t>https://www.python.org</a:t>
            </a:r>
            <a:endParaRPr lang="en-US" sz="2000" dirty="0">
              <a:latin typeface="Arial" panose="020B0604020202020204" pitchFamily="34" charset="0"/>
              <a:cs typeface="Arial" panose="020B0604020202020204" pitchFamily="34" charset="0"/>
            </a:endParaRPr>
          </a:p>
        </p:txBody>
      </p:sp>
      <p:sp>
        <p:nvSpPr>
          <p:cNvPr id="29" name="Shape 5">
            <a:extLst>
              <a:ext uri="{FF2B5EF4-FFF2-40B4-BE49-F238E27FC236}">
                <a16:creationId xmlns:a16="http://schemas.microsoft.com/office/drawing/2014/main" id="{410076A7-EF8F-08FF-AB9D-270A4B1A52F4}"/>
              </a:ext>
            </a:extLst>
          </p:cNvPr>
          <p:cNvSpPr/>
          <p:nvPr/>
        </p:nvSpPr>
        <p:spPr>
          <a:xfrm>
            <a:off x="6248392" y="1395889"/>
            <a:ext cx="5362415" cy="1943338"/>
          </a:xfrm>
          <a:prstGeom prst="roundRect">
            <a:avLst>
              <a:gd name="adj" fmla="val 4289"/>
            </a:avLst>
          </a:prstGeom>
          <a:solidFill>
            <a:srgbClr val="FFFFFF"/>
          </a:solidFill>
          <a:ln w="22860">
            <a:solidFill>
              <a:srgbClr val="BCDBD4"/>
            </a:solidFill>
            <a:prstDash val="solid"/>
          </a:ln>
        </p:spPr>
      </p:sp>
      <p:sp>
        <p:nvSpPr>
          <p:cNvPr id="30" name="Text 6">
            <a:extLst>
              <a:ext uri="{FF2B5EF4-FFF2-40B4-BE49-F238E27FC236}">
                <a16:creationId xmlns:a16="http://schemas.microsoft.com/office/drawing/2014/main" id="{E9AF31A4-BA4B-B6D6-C8CB-C5B4EFEA3BB8}"/>
              </a:ext>
            </a:extLst>
          </p:cNvPr>
          <p:cNvSpPr/>
          <p:nvPr/>
        </p:nvSpPr>
        <p:spPr>
          <a:xfrm>
            <a:off x="6469610" y="1617107"/>
            <a:ext cx="3336548" cy="310158"/>
          </a:xfrm>
          <a:prstGeom prst="rect">
            <a:avLst/>
          </a:prstGeom>
          <a:noFill/>
          <a:ln/>
        </p:spPr>
        <p:txBody>
          <a:bodyPr wrap="none" lIns="0" tIns="0" rIns="0" bIns="0" rtlCol="0" anchor="t"/>
          <a:lstStyle/>
          <a:p>
            <a:pPr marL="0" indent="0" algn="l">
              <a:lnSpc>
                <a:spcPts val="2400"/>
              </a:lnSpc>
              <a:buNone/>
            </a:pPr>
            <a:r>
              <a:rPr lang="en-US" sz="2000" b="1" dirty="0">
                <a:solidFill>
                  <a:srgbClr val="333F70"/>
                </a:solidFill>
                <a:latin typeface="Arial" panose="020B0604020202020204" pitchFamily="34" charset="0"/>
                <a:ea typeface="Unbounded Bold" pitchFamily="34" charset="-122"/>
                <a:cs typeface="Arial" panose="020B0604020202020204" pitchFamily="34" charset="0"/>
              </a:rPr>
              <a:t>Streamlit Documentation</a:t>
            </a:r>
            <a:endParaRPr lang="en-US" sz="2000" dirty="0">
              <a:latin typeface="Arial" panose="020B0604020202020204" pitchFamily="34" charset="0"/>
              <a:cs typeface="Arial" panose="020B0604020202020204" pitchFamily="34" charset="0"/>
            </a:endParaRPr>
          </a:p>
        </p:txBody>
      </p:sp>
      <p:sp>
        <p:nvSpPr>
          <p:cNvPr id="31" name="Text 7">
            <a:extLst>
              <a:ext uri="{FF2B5EF4-FFF2-40B4-BE49-F238E27FC236}">
                <a16:creationId xmlns:a16="http://schemas.microsoft.com/office/drawing/2014/main" id="{58B94E65-1395-C410-E902-778E0E7F59F1}"/>
              </a:ext>
            </a:extLst>
          </p:cNvPr>
          <p:cNvSpPr/>
          <p:nvPr/>
        </p:nvSpPr>
        <p:spPr>
          <a:xfrm>
            <a:off x="6469610" y="2046327"/>
            <a:ext cx="4992991" cy="635079"/>
          </a:xfrm>
          <a:prstGeom prst="rect">
            <a:avLst/>
          </a:prstGeom>
          <a:noFill/>
          <a:ln/>
        </p:spPr>
        <p:txBody>
          <a:bodyPr wrap="square" lIns="0" tIns="0" rIns="0" bIns="0" rtlCol="0" anchor="t"/>
          <a:lstStyle/>
          <a:p>
            <a:pPr marL="0" indent="0" algn="l">
              <a:lnSpc>
                <a:spcPts val="2500"/>
              </a:lnSpc>
              <a:buNone/>
            </a:pPr>
            <a:r>
              <a:rPr lang="en-US" sz="2000" dirty="0">
                <a:solidFill>
                  <a:srgbClr val="333F70"/>
                </a:solidFill>
                <a:latin typeface="Arial" panose="020B0604020202020204" pitchFamily="34" charset="0"/>
                <a:ea typeface="Open Sans" pitchFamily="34" charset="-122"/>
                <a:cs typeface="Arial" panose="020B0604020202020204" pitchFamily="34" charset="0"/>
              </a:rPr>
              <a:t>Streamlit framework documentation for web application development</a:t>
            </a:r>
            <a:endParaRPr lang="en-US" sz="2000" dirty="0">
              <a:latin typeface="Arial" panose="020B0604020202020204" pitchFamily="34" charset="0"/>
              <a:cs typeface="Arial" panose="020B0604020202020204" pitchFamily="34" charset="0"/>
            </a:endParaRPr>
          </a:p>
        </p:txBody>
      </p:sp>
      <p:sp>
        <p:nvSpPr>
          <p:cNvPr id="32" name="Text 8">
            <a:extLst>
              <a:ext uri="{FF2B5EF4-FFF2-40B4-BE49-F238E27FC236}">
                <a16:creationId xmlns:a16="http://schemas.microsoft.com/office/drawing/2014/main" id="{B1F7B641-0411-941F-F4F9-630046E1BDFA}"/>
              </a:ext>
            </a:extLst>
          </p:cNvPr>
          <p:cNvSpPr/>
          <p:nvPr/>
        </p:nvSpPr>
        <p:spPr>
          <a:xfrm>
            <a:off x="6469610" y="2800469"/>
            <a:ext cx="4992991" cy="317540"/>
          </a:xfrm>
          <a:prstGeom prst="rect">
            <a:avLst/>
          </a:prstGeom>
          <a:noFill/>
          <a:ln/>
        </p:spPr>
        <p:txBody>
          <a:bodyPr wrap="none" lIns="0" tIns="0" rIns="0" bIns="0" rtlCol="0" anchor="t"/>
          <a:lstStyle/>
          <a:p>
            <a:pPr marL="0" indent="0" algn="l">
              <a:lnSpc>
                <a:spcPts val="2500"/>
              </a:lnSpc>
              <a:buNone/>
            </a:pPr>
            <a:r>
              <a:rPr lang="en-US" sz="2000" u="sng" dirty="0">
                <a:solidFill>
                  <a:srgbClr val="26A688"/>
                </a:solidFill>
                <a:latin typeface="Arial" panose="020B0604020202020204" pitchFamily="34" charset="0"/>
                <a:ea typeface="Open Sans" pitchFamily="34" charset="-122"/>
                <a:cs typeface="Arial" panose="020B0604020202020204" pitchFamily="34" charset="0"/>
                <a:hlinkClick r:id="rId3">
                  <a:extLst>
                    <a:ext uri="{A12FA001-AC4F-418D-AE19-62706E023703}">
                      <ahyp:hlinkClr xmlns:ahyp="http://schemas.microsoft.com/office/drawing/2018/hyperlinkcolor" val="tx"/>
                    </a:ext>
                  </a:extLst>
                </a:hlinkClick>
              </a:rPr>
              <a:t>https://docs.streamlit.io</a:t>
            </a:r>
            <a:endParaRPr lang="en-US" sz="2000" dirty="0">
              <a:latin typeface="Arial" panose="020B0604020202020204" pitchFamily="34" charset="0"/>
              <a:cs typeface="Arial" panose="020B0604020202020204" pitchFamily="34" charset="0"/>
            </a:endParaRPr>
          </a:p>
        </p:txBody>
      </p:sp>
      <p:sp>
        <p:nvSpPr>
          <p:cNvPr id="33" name="Shape 9">
            <a:extLst>
              <a:ext uri="{FF2B5EF4-FFF2-40B4-BE49-F238E27FC236}">
                <a16:creationId xmlns:a16="http://schemas.microsoft.com/office/drawing/2014/main" id="{EEBD89F5-23AE-FAA2-AEDC-C9EB45C90073}"/>
              </a:ext>
            </a:extLst>
          </p:cNvPr>
          <p:cNvSpPr/>
          <p:nvPr/>
        </p:nvSpPr>
        <p:spPr>
          <a:xfrm>
            <a:off x="580406" y="3560445"/>
            <a:ext cx="5445982" cy="1943338"/>
          </a:xfrm>
          <a:prstGeom prst="roundRect">
            <a:avLst>
              <a:gd name="adj" fmla="val 5127"/>
            </a:avLst>
          </a:prstGeom>
          <a:solidFill>
            <a:srgbClr val="FFFFFF"/>
          </a:solidFill>
          <a:ln w="22860">
            <a:solidFill>
              <a:srgbClr val="BCDBD4"/>
            </a:solidFill>
            <a:prstDash val="solid"/>
          </a:ln>
        </p:spPr>
      </p:sp>
      <p:sp>
        <p:nvSpPr>
          <p:cNvPr id="34" name="Text 10">
            <a:extLst>
              <a:ext uri="{FF2B5EF4-FFF2-40B4-BE49-F238E27FC236}">
                <a16:creationId xmlns:a16="http://schemas.microsoft.com/office/drawing/2014/main" id="{075EEC36-1D25-126E-3D8E-E7F7627BAD10}"/>
              </a:ext>
            </a:extLst>
          </p:cNvPr>
          <p:cNvSpPr/>
          <p:nvPr/>
        </p:nvSpPr>
        <p:spPr>
          <a:xfrm>
            <a:off x="802410" y="3836313"/>
            <a:ext cx="3315531" cy="370736"/>
          </a:xfrm>
          <a:prstGeom prst="rect">
            <a:avLst/>
          </a:prstGeom>
          <a:noFill/>
          <a:ln/>
        </p:spPr>
        <p:txBody>
          <a:bodyPr wrap="none" lIns="0" tIns="0" rIns="0" bIns="0" rtlCol="0" anchor="t"/>
          <a:lstStyle/>
          <a:p>
            <a:pPr marL="0" indent="0" algn="l">
              <a:lnSpc>
                <a:spcPts val="2400"/>
              </a:lnSpc>
              <a:buNone/>
            </a:pPr>
            <a:r>
              <a:rPr lang="en-US" sz="2000" b="1" dirty="0">
                <a:solidFill>
                  <a:srgbClr val="333F70"/>
                </a:solidFill>
                <a:latin typeface="Arial" panose="020B0604020202020204" pitchFamily="34" charset="0"/>
                <a:ea typeface="Unbounded Bold" pitchFamily="34" charset="-122"/>
                <a:cs typeface="Arial" panose="020B0604020202020204" pitchFamily="34" charset="0"/>
              </a:rPr>
              <a:t>Groq API Documentation</a:t>
            </a:r>
            <a:endParaRPr lang="en-US" sz="2000" dirty="0">
              <a:latin typeface="Arial" panose="020B0604020202020204" pitchFamily="34" charset="0"/>
              <a:cs typeface="Arial" panose="020B0604020202020204" pitchFamily="34" charset="0"/>
            </a:endParaRPr>
          </a:p>
        </p:txBody>
      </p:sp>
      <p:sp>
        <p:nvSpPr>
          <p:cNvPr id="35" name="Text 11">
            <a:extLst>
              <a:ext uri="{FF2B5EF4-FFF2-40B4-BE49-F238E27FC236}">
                <a16:creationId xmlns:a16="http://schemas.microsoft.com/office/drawing/2014/main" id="{0611A830-9F52-DEE4-85AC-A587845D297C}"/>
              </a:ext>
            </a:extLst>
          </p:cNvPr>
          <p:cNvSpPr/>
          <p:nvPr/>
        </p:nvSpPr>
        <p:spPr>
          <a:xfrm>
            <a:off x="802411" y="4265531"/>
            <a:ext cx="5134886" cy="619125"/>
          </a:xfrm>
          <a:prstGeom prst="rect">
            <a:avLst/>
          </a:prstGeom>
          <a:noFill/>
          <a:ln/>
        </p:spPr>
        <p:txBody>
          <a:bodyPr wrap="none" lIns="0" tIns="0" rIns="0" bIns="0" rtlCol="0" anchor="t"/>
          <a:lstStyle/>
          <a:p>
            <a:pPr marL="0" indent="0" algn="just">
              <a:lnSpc>
                <a:spcPts val="2500"/>
              </a:lnSpc>
              <a:buNone/>
            </a:pPr>
            <a:r>
              <a:rPr lang="en-US" sz="2000" dirty="0">
                <a:solidFill>
                  <a:srgbClr val="333F70"/>
                </a:solidFill>
                <a:latin typeface="Arial" panose="020B0604020202020204" pitchFamily="34" charset="0"/>
                <a:ea typeface="Open Sans" pitchFamily="34" charset="-122"/>
                <a:cs typeface="Arial" panose="020B0604020202020204" pitchFamily="34" charset="0"/>
              </a:rPr>
              <a:t>Groq API documentation for AI model</a:t>
            </a:r>
          </a:p>
          <a:p>
            <a:pPr marL="0" indent="0" algn="just">
              <a:lnSpc>
                <a:spcPts val="2500"/>
              </a:lnSpc>
              <a:buNone/>
            </a:pPr>
            <a:r>
              <a:rPr lang="en-US" sz="2000" dirty="0">
                <a:solidFill>
                  <a:srgbClr val="333F70"/>
                </a:solidFill>
                <a:latin typeface="Arial" panose="020B0604020202020204" pitchFamily="34" charset="0"/>
                <a:ea typeface="Open Sans" pitchFamily="34" charset="-122"/>
                <a:cs typeface="Arial" panose="020B0604020202020204" pitchFamily="34" charset="0"/>
              </a:rPr>
              <a:t>Integration</a:t>
            </a:r>
            <a:endParaRPr lang="en-US" sz="2000" dirty="0">
              <a:latin typeface="Arial" panose="020B0604020202020204" pitchFamily="34" charset="0"/>
              <a:cs typeface="Arial" panose="020B0604020202020204" pitchFamily="34" charset="0"/>
            </a:endParaRPr>
          </a:p>
        </p:txBody>
      </p:sp>
      <p:sp>
        <p:nvSpPr>
          <p:cNvPr id="36" name="Text 12">
            <a:extLst>
              <a:ext uri="{FF2B5EF4-FFF2-40B4-BE49-F238E27FC236}">
                <a16:creationId xmlns:a16="http://schemas.microsoft.com/office/drawing/2014/main" id="{0595F56B-7596-0B48-0D28-6F96C9AE71F7}"/>
              </a:ext>
            </a:extLst>
          </p:cNvPr>
          <p:cNvSpPr/>
          <p:nvPr/>
        </p:nvSpPr>
        <p:spPr>
          <a:xfrm>
            <a:off x="802411" y="5004439"/>
            <a:ext cx="5134886" cy="379560"/>
          </a:xfrm>
          <a:prstGeom prst="rect">
            <a:avLst/>
          </a:prstGeom>
          <a:noFill/>
          <a:ln/>
        </p:spPr>
        <p:txBody>
          <a:bodyPr wrap="none" lIns="0" tIns="0" rIns="0" bIns="0" rtlCol="0" anchor="t"/>
          <a:lstStyle/>
          <a:p>
            <a:pPr marL="0" indent="0" algn="l">
              <a:lnSpc>
                <a:spcPts val="2500"/>
              </a:lnSpc>
              <a:buNone/>
            </a:pPr>
            <a:r>
              <a:rPr lang="en-US" sz="2000" u="sng" dirty="0">
                <a:solidFill>
                  <a:srgbClr val="26A688"/>
                </a:solidFill>
                <a:latin typeface="Arial" panose="020B0604020202020204" pitchFamily="34" charset="0"/>
                <a:ea typeface="Open Sans" pitchFamily="34" charset="-122"/>
                <a:cs typeface="Arial" panose="020B0604020202020204" pitchFamily="34" charset="0"/>
                <a:hlinkClick r:id="rId4">
                  <a:extLst>
                    <a:ext uri="{A12FA001-AC4F-418D-AE19-62706E023703}">
                      <ahyp:hlinkClr xmlns:ahyp="http://schemas.microsoft.com/office/drawing/2018/hyperlinkcolor" val="tx"/>
                    </a:ext>
                  </a:extLst>
                </a:hlinkClick>
              </a:rPr>
              <a:t>https://console.groq.com/docs</a:t>
            </a:r>
            <a:endParaRPr lang="en-US" sz="2000" dirty="0">
              <a:latin typeface="Arial" panose="020B0604020202020204" pitchFamily="34" charset="0"/>
              <a:cs typeface="Arial" panose="020B0604020202020204" pitchFamily="34" charset="0"/>
            </a:endParaRPr>
          </a:p>
        </p:txBody>
      </p:sp>
      <p:sp>
        <p:nvSpPr>
          <p:cNvPr id="37" name="Shape 13">
            <a:extLst>
              <a:ext uri="{FF2B5EF4-FFF2-40B4-BE49-F238E27FC236}">
                <a16:creationId xmlns:a16="http://schemas.microsoft.com/office/drawing/2014/main" id="{2FC4225B-C555-2798-9937-BB7552A4241F}"/>
              </a:ext>
            </a:extLst>
          </p:cNvPr>
          <p:cNvSpPr/>
          <p:nvPr/>
        </p:nvSpPr>
        <p:spPr>
          <a:xfrm>
            <a:off x="6248392" y="3560445"/>
            <a:ext cx="5362416" cy="1901666"/>
          </a:xfrm>
          <a:prstGeom prst="roundRect">
            <a:avLst>
              <a:gd name="adj" fmla="val 5127"/>
            </a:avLst>
          </a:prstGeom>
          <a:solidFill>
            <a:srgbClr val="FFFFFF"/>
          </a:solidFill>
          <a:ln w="22860">
            <a:solidFill>
              <a:srgbClr val="BCDBD4"/>
            </a:solidFill>
            <a:prstDash val="solid"/>
          </a:ln>
        </p:spPr>
      </p:sp>
      <p:sp>
        <p:nvSpPr>
          <p:cNvPr id="38" name="Text 14">
            <a:extLst>
              <a:ext uri="{FF2B5EF4-FFF2-40B4-BE49-F238E27FC236}">
                <a16:creationId xmlns:a16="http://schemas.microsoft.com/office/drawing/2014/main" id="{B7806A74-F3D4-4684-3287-BC5292D8D9DE}"/>
              </a:ext>
            </a:extLst>
          </p:cNvPr>
          <p:cNvSpPr/>
          <p:nvPr/>
        </p:nvSpPr>
        <p:spPr>
          <a:xfrm>
            <a:off x="6362156" y="3853771"/>
            <a:ext cx="2130368" cy="310158"/>
          </a:xfrm>
          <a:prstGeom prst="rect">
            <a:avLst/>
          </a:prstGeom>
          <a:noFill/>
          <a:ln/>
        </p:spPr>
        <p:txBody>
          <a:bodyPr wrap="none" lIns="0" tIns="0" rIns="0" bIns="0" rtlCol="0" anchor="t"/>
          <a:lstStyle/>
          <a:p>
            <a:pPr marL="0" indent="0" algn="l">
              <a:lnSpc>
                <a:spcPts val="2400"/>
              </a:lnSpc>
              <a:buNone/>
            </a:pPr>
            <a:r>
              <a:rPr lang="en-US" sz="2000" b="1" dirty="0">
                <a:solidFill>
                  <a:srgbClr val="333F70"/>
                </a:solidFill>
                <a:latin typeface="Arial" panose="020B0604020202020204" pitchFamily="34" charset="0"/>
                <a:ea typeface="Unbounded Bold" pitchFamily="34" charset="-122"/>
                <a:cs typeface="Arial" panose="020B0604020202020204" pitchFamily="34" charset="0"/>
              </a:rPr>
              <a:t>PyPDF2 Library</a:t>
            </a:r>
            <a:endParaRPr lang="en-US" sz="2000" dirty="0">
              <a:latin typeface="Arial" panose="020B0604020202020204" pitchFamily="34" charset="0"/>
              <a:cs typeface="Arial" panose="020B0604020202020204" pitchFamily="34" charset="0"/>
            </a:endParaRPr>
          </a:p>
        </p:txBody>
      </p:sp>
      <p:sp>
        <p:nvSpPr>
          <p:cNvPr id="39" name="Text 15">
            <a:extLst>
              <a:ext uri="{FF2B5EF4-FFF2-40B4-BE49-F238E27FC236}">
                <a16:creationId xmlns:a16="http://schemas.microsoft.com/office/drawing/2014/main" id="{08B6A9AB-FC65-2A64-5FCC-C704B77CD2B2}"/>
              </a:ext>
            </a:extLst>
          </p:cNvPr>
          <p:cNvSpPr/>
          <p:nvPr/>
        </p:nvSpPr>
        <p:spPr>
          <a:xfrm>
            <a:off x="6362156" y="4273530"/>
            <a:ext cx="5134886" cy="695425"/>
          </a:xfrm>
          <a:prstGeom prst="rect">
            <a:avLst/>
          </a:prstGeom>
          <a:noFill/>
          <a:ln/>
        </p:spPr>
        <p:txBody>
          <a:bodyPr wrap="none" lIns="0" tIns="0" rIns="0" bIns="0" rtlCol="0" anchor="t"/>
          <a:lstStyle/>
          <a:p>
            <a:pPr marL="0" indent="0" algn="l">
              <a:lnSpc>
                <a:spcPts val="2500"/>
              </a:lnSpc>
              <a:buNone/>
            </a:pPr>
            <a:r>
              <a:rPr lang="en-US" sz="2000" dirty="0">
                <a:solidFill>
                  <a:srgbClr val="333F70"/>
                </a:solidFill>
                <a:latin typeface="Arial" panose="020B0604020202020204" pitchFamily="34" charset="0"/>
                <a:ea typeface="Open Sans" pitchFamily="34" charset="-122"/>
                <a:cs typeface="Arial" panose="020B0604020202020204" pitchFamily="34" charset="0"/>
              </a:rPr>
              <a:t>PyPDF2 library documentation for PDF </a:t>
            </a:r>
          </a:p>
          <a:p>
            <a:pPr marL="0" indent="0" algn="l">
              <a:lnSpc>
                <a:spcPts val="2500"/>
              </a:lnSpc>
              <a:buNone/>
            </a:pPr>
            <a:r>
              <a:rPr lang="en-US" sz="2000" dirty="0">
                <a:solidFill>
                  <a:srgbClr val="333F70"/>
                </a:solidFill>
                <a:latin typeface="Arial" panose="020B0604020202020204" pitchFamily="34" charset="0"/>
                <a:ea typeface="Open Sans" pitchFamily="34" charset="-122"/>
                <a:cs typeface="Arial" panose="020B0604020202020204" pitchFamily="34" charset="0"/>
              </a:rPr>
              <a:t>processing functionality</a:t>
            </a:r>
            <a:endParaRPr lang="en-US" sz="2000" dirty="0">
              <a:latin typeface="Arial" panose="020B0604020202020204" pitchFamily="34" charset="0"/>
              <a:cs typeface="Arial" panose="020B0604020202020204" pitchFamily="34" charset="0"/>
            </a:endParaRPr>
          </a:p>
        </p:txBody>
      </p:sp>
      <p:sp>
        <p:nvSpPr>
          <p:cNvPr id="40" name="Text 16">
            <a:extLst>
              <a:ext uri="{FF2B5EF4-FFF2-40B4-BE49-F238E27FC236}">
                <a16:creationId xmlns:a16="http://schemas.microsoft.com/office/drawing/2014/main" id="{98461977-ADDA-860E-4B3A-A632123776AB}"/>
              </a:ext>
            </a:extLst>
          </p:cNvPr>
          <p:cNvSpPr/>
          <p:nvPr/>
        </p:nvSpPr>
        <p:spPr>
          <a:xfrm>
            <a:off x="6380517" y="4989929"/>
            <a:ext cx="5134886" cy="317540"/>
          </a:xfrm>
          <a:prstGeom prst="rect">
            <a:avLst/>
          </a:prstGeom>
          <a:noFill/>
          <a:ln/>
        </p:spPr>
        <p:txBody>
          <a:bodyPr wrap="none" lIns="0" tIns="0" rIns="0" bIns="0" rtlCol="0" anchor="t"/>
          <a:lstStyle/>
          <a:p>
            <a:pPr marL="0" indent="0" algn="l">
              <a:lnSpc>
                <a:spcPts val="2500"/>
              </a:lnSpc>
              <a:buNone/>
            </a:pPr>
            <a:r>
              <a:rPr lang="en-US" sz="2000" u="sng" dirty="0">
                <a:solidFill>
                  <a:srgbClr val="26A688"/>
                </a:solidFill>
                <a:latin typeface="Arial" panose="020B0604020202020204" pitchFamily="34" charset="0"/>
                <a:ea typeface="Open Sans" pitchFamily="34" charset="-122"/>
                <a:cs typeface="Arial" panose="020B0604020202020204" pitchFamily="34" charset="0"/>
                <a:hlinkClick r:id="rId5">
                  <a:extLst>
                    <a:ext uri="{A12FA001-AC4F-418D-AE19-62706E023703}">
                      <ahyp:hlinkClr xmlns:ahyp="http://schemas.microsoft.com/office/drawing/2018/hyperlinkcolor" val="tx"/>
                    </a:ext>
                  </a:extLst>
                </a:hlinkClick>
              </a:rPr>
              <a:t>https://pypdf2.readthedocs.io</a:t>
            </a:r>
            <a:endParaRPr lang="en-US" sz="2000" dirty="0">
              <a:latin typeface="Arial" panose="020B0604020202020204" pitchFamily="34" charset="0"/>
              <a:cs typeface="Arial" panose="020B0604020202020204" pitchFamily="34" charset="0"/>
            </a:endParaRPr>
          </a:p>
        </p:txBody>
      </p:sp>
      <p:sp>
        <p:nvSpPr>
          <p:cNvPr id="41" name="Text 17">
            <a:extLst>
              <a:ext uri="{FF2B5EF4-FFF2-40B4-BE49-F238E27FC236}">
                <a16:creationId xmlns:a16="http://schemas.microsoft.com/office/drawing/2014/main" id="{72B110C2-D642-0E66-3A07-99687B8D3FD1}"/>
              </a:ext>
            </a:extLst>
          </p:cNvPr>
          <p:cNvSpPr/>
          <p:nvPr/>
        </p:nvSpPr>
        <p:spPr>
          <a:xfrm>
            <a:off x="580406" y="5725001"/>
            <a:ext cx="11029616" cy="635079"/>
          </a:xfrm>
          <a:prstGeom prst="rect">
            <a:avLst/>
          </a:prstGeom>
          <a:noFill/>
          <a:ln/>
        </p:spPr>
        <p:txBody>
          <a:bodyPr wrap="square" lIns="0" tIns="0" rIns="0" bIns="0" rtlCol="0" anchor="t"/>
          <a:lstStyle/>
          <a:p>
            <a:pPr marL="0" indent="0" algn="just">
              <a:lnSpc>
                <a:spcPts val="2500"/>
              </a:lnSpc>
              <a:buNone/>
            </a:pPr>
            <a:r>
              <a:rPr lang="en-US" sz="2000" dirty="0">
                <a:solidFill>
                  <a:srgbClr val="333F70"/>
                </a:solidFill>
                <a:latin typeface="Arial" panose="020B0604020202020204" pitchFamily="34" charset="0"/>
                <a:ea typeface="Open Sans" pitchFamily="34" charset="-122"/>
                <a:cs typeface="Arial" panose="020B0604020202020204" pitchFamily="34" charset="0"/>
              </a:rPr>
              <a:t>Additional resources include research articles and online materials on Artificial Intelligence in Education, as well as technical tutorials and documentation related to AI-based learning systems.</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289502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C18F4-90FF-869B-D16A-31F40314E23F}"/>
              </a:ext>
            </a:extLst>
          </p:cNvPr>
          <p:cNvSpPr>
            <a:spLocks noGrp="1"/>
          </p:cNvSpPr>
          <p:nvPr>
            <p:ph type="title"/>
          </p:nvPr>
        </p:nvSpPr>
        <p:spPr>
          <a:xfrm>
            <a:off x="453373" y="617502"/>
            <a:ext cx="11029616" cy="530296"/>
          </a:xfrm>
        </p:spPr>
        <p:txBody>
          <a:bodyPr>
            <a:noAutofit/>
          </a:bodyPr>
          <a:lstStyle/>
          <a:p>
            <a:r>
              <a:rPr lang="en-IN" sz="4000" b="1" dirty="0">
                <a:solidFill>
                  <a:schemeClr val="accent1">
                    <a:lumMod val="60000"/>
                    <a:lumOff val="40000"/>
                  </a:schemeClr>
                </a:solidFill>
                <a:latin typeface="Arial" panose="020B0604020202020204" pitchFamily="34" charset="0"/>
                <a:cs typeface="Arial" panose="020B0604020202020204" pitchFamily="34" charset="0"/>
              </a:rPr>
              <a:t>Project Links</a:t>
            </a:r>
          </a:p>
        </p:txBody>
      </p:sp>
      <p:sp>
        <p:nvSpPr>
          <p:cNvPr id="3" name="Content Placeholder 2">
            <a:extLst>
              <a:ext uri="{FF2B5EF4-FFF2-40B4-BE49-F238E27FC236}">
                <a16:creationId xmlns:a16="http://schemas.microsoft.com/office/drawing/2014/main" id="{D728B4D2-2154-F20B-F64F-A6097D21B39F}"/>
              </a:ext>
            </a:extLst>
          </p:cNvPr>
          <p:cNvSpPr>
            <a:spLocks noGrp="1"/>
          </p:cNvSpPr>
          <p:nvPr>
            <p:ph idx="1"/>
          </p:nvPr>
        </p:nvSpPr>
        <p:spPr/>
        <p:txBody>
          <a:bodyPr>
            <a:normAutofit/>
          </a:bodyPr>
          <a:lstStyle/>
          <a:p>
            <a:pPr algn="just">
              <a:buFont typeface="Arial" panose="020B0604020202020204" pitchFamily="34" charset="0"/>
              <a:buChar char="•"/>
            </a:pPr>
            <a:r>
              <a:rPr lang="en-US" sz="2400" b="1" dirty="0">
                <a:solidFill>
                  <a:srgbClr val="002060"/>
                </a:solidFill>
                <a:latin typeface="Arial" panose="020B0604020202020204" pitchFamily="34" charset="0"/>
                <a:cs typeface="Arial" panose="020B0604020202020204" pitchFamily="34" charset="0"/>
              </a:rPr>
              <a:t>GitHub Repository:  </a:t>
            </a:r>
          </a:p>
          <a:p>
            <a:pPr marL="0" indent="0" algn="just">
              <a:buNone/>
            </a:pPr>
            <a:r>
              <a:rPr lang="en-US" sz="2400" b="1" dirty="0">
                <a:solidFill>
                  <a:srgbClr val="002060"/>
                </a:solidFill>
                <a:latin typeface="Arial" panose="020B0604020202020204" pitchFamily="34" charset="0"/>
                <a:cs typeface="Arial" panose="020B0604020202020204" pitchFamily="34" charset="0"/>
              </a:rPr>
              <a:t>    </a:t>
            </a:r>
            <a:r>
              <a:rPr lang="en-US" sz="2400" b="1" dirty="0">
                <a:solidFill>
                  <a:srgbClr val="002060"/>
                </a:solidFill>
                <a:latin typeface="Arial" panose="020B0604020202020204" pitchFamily="34" charset="0"/>
                <a:cs typeface="Arial" panose="020B0604020202020204" pitchFamily="34" charset="0"/>
                <a:hlinkClick r:id="rId2"/>
              </a:rPr>
              <a:t>https://github.com/garulerupali24-del/mini-ai-study-buddy</a:t>
            </a:r>
            <a:endParaRPr lang="en-US" sz="2400" b="1" dirty="0">
              <a:solidFill>
                <a:srgbClr val="002060"/>
              </a:solidFill>
              <a:latin typeface="Arial" panose="020B0604020202020204" pitchFamily="34" charset="0"/>
              <a:cs typeface="Arial" panose="020B0604020202020204" pitchFamily="34" charset="0"/>
            </a:endParaRPr>
          </a:p>
          <a:p>
            <a:pPr marL="0" indent="0" algn="just">
              <a:buNone/>
            </a:pPr>
            <a:endParaRPr lang="en-US" sz="2400" b="1" dirty="0">
              <a:solidFill>
                <a:srgbClr val="002060"/>
              </a:solidFill>
              <a:latin typeface="Arial" panose="020B0604020202020204" pitchFamily="34" charset="0"/>
              <a:cs typeface="Arial" panose="020B0604020202020204" pitchFamily="34" charset="0"/>
            </a:endParaRPr>
          </a:p>
          <a:p>
            <a:pPr>
              <a:buFont typeface="Arial" panose="020B0604020202020204" pitchFamily="34" charset="0"/>
              <a:buChar char="•"/>
            </a:pPr>
            <a:r>
              <a:rPr lang="en-US" sz="2400" b="1" dirty="0">
                <a:solidFill>
                  <a:srgbClr val="002060"/>
                </a:solidFill>
                <a:latin typeface="Arial" panose="020B0604020202020204" pitchFamily="34" charset="0"/>
                <a:cs typeface="Arial" panose="020B0604020202020204" pitchFamily="34" charset="0"/>
              </a:rPr>
              <a:t>Live Application (</a:t>
            </a:r>
            <a:r>
              <a:rPr lang="en-US" sz="2400" b="1" dirty="0" err="1">
                <a:solidFill>
                  <a:srgbClr val="002060"/>
                </a:solidFill>
                <a:latin typeface="Arial" panose="020B0604020202020204" pitchFamily="34" charset="0"/>
                <a:cs typeface="Arial" panose="020B0604020202020204" pitchFamily="34" charset="0"/>
              </a:rPr>
              <a:t>Streamlit</a:t>
            </a:r>
            <a:r>
              <a:rPr lang="en-US" sz="2400" b="1" dirty="0">
                <a:solidFill>
                  <a:srgbClr val="002060"/>
                </a:solidFill>
                <a:latin typeface="Arial" panose="020B0604020202020204" pitchFamily="34" charset="0"/>
                <a:cs typeface="Arial" panose="020B0604020202020204" pitchFamily="34" charset="0"/>
              </a:rPr>
              <a:t> Deployment):</a:t>
            </a:r>
          </a:p>
          <a:p>
            <a:pPr marL="0" indent="0">
              <a:buNone/>
            </a:pPr>
            <a:r>
              <a:rPr lang="en-US" sz="2400" dirty="0">
                <a:solidFill>
                  <a:srgbClr val="002060"/>
                </a:solidFill>
                <a:latin typeface="Arial" panose="020B0604020202020204" pitchFamily="34" charset="0"/>
                <a:cs typeface="Arial" panose="020B0604020202020204" pitchFamily="34" charset="0"/>
              </a:rPr>
              <a:t>    </a:t>
            </a:r>
            <a:r>
              <a:rPr lang="en-US" sz="2400" b="1" dirty="0">
                <a:solidFill>
                  <a:srgbClr val="002060"/>
                </a:solidFill>
                <a:latin typeface="Arial" panose="020B0604020202020204" pitchFamily="34" charset="0"/>
                <a:cs typeface="Arial" panose="020B0604020202020204" pitchFamily="34" charset="0"/>
                <a:hlinkClick r:id="rId3"/>
              </a:rPr>
              <a:t>https://mini-ai-study-buddy-t6cwcribqpy58gqebtzd6s.streamlit.app/</a:t>
            </a:r>
            <a:endParaRPr lang="en-US" sz="2400" b="1" dirty="0">
              <a:solidFill>
                <a:srgbClr val="002060"/>
              </a:solidFill>
              <a:latin typeface="Arial" panose="020B0604020202020204" pitchFamily="34" charset="0"/>
              <a:cs typeface="Arial" panose="020B0604020202020204" pitchFamily="34" charset="0"/>
            </a:endParaRPr>
          </a:p>
          <a:p>
            <a:pPr marL="0" indent="0">
              <a:buNone/>
            </a:pPr>
            <a:endParaRPr lang="en-US" sz="2400" dirty="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959093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5406FE6-D9F9-0566-540F-F4A7329B72AD}"/>
              </a:ext>
            </a:extLst>
          </p:cNvPr>
          <p:cNvSpPr txBox="1"/>
          <p:nvPr/>
        </p:nvSpPr>
        <p:spPr>
          <a:xfrm>
            <a:off x="422787" y="719902"/>
            <a:ext cx="6096000" cy="707886"/>
          </a:xfrm>
          <a:prstGeom prst="rect">
            <a:avLst/>
          </a:prstGeom>
          <a:noFill/>
        </p:spPr>
        <p:txBody>
          <a:bodyPr wrap="square">
            <a:spAutoFit/>
          </a:bodyPr>
          <a:lstStyle/>
          <a:p>
            <a:pPr>
              <a:buNone/>
            </a:pPr>
            <a:r>
              <a:rPr lang="en-US" sz="4000" b="1" dirty="0">
                <a:solidFill>
                  <a:srgbClr val="002060"/>
                </a:solidFill>
                <a:latin typeface="Arial" panose="020B0604020202020204" pitchFamily="34" charset="0"/>
                <a:cs typeface="Arial" panose="020B0604020202020204" pitchFamily="34" charset="0"/>
              </a:rPr>
              <a:t>Acknowledgment</a:t>
            </a:r>
          </a:p>
        </p:txBody>
      </p:sp>
      <p:sp>
        <p:nvSpPr>
          <p:cNvPr id="6" name="TextBox 5">
            <a:extLst>
              <a:ext uri="{FF2B5EF4-FFF2-40B4-BE49-F238E27FC236}">
                <a16:creationId xmlns:a16="http://schemas.microsoft.com/office/drawing/2014/main" id="{984A981F-4CFD-4D22-8A7F-4FD61D3C95DA}"/>
              </a:ext>
            </a:extLst>
          </p:cNvPr>
          <p:cNvSpPr txBox="1"/>
          <p:nvPr/>
        </p:nvSpPr>
        <p:spPr>
          <a:xfrm>
            <a:off x="526025" y="1796918"/>
            <a:ext cx="11139950" cy="2831544"/>
          </a:xfrm>
          <a:prstGeom prst="rect">
            <a:avLst/>
          </a:prstGeom>
          <a:noFill/>
        </p:spPr>
        <p:txBody>
          <a:bodyPr wrap="square">
            <a:spAutoFit/>
          </a:bodyPr>
          <a:lstStyle/>
          <a:p>
            <a:pPr>
              <a:buNone/>
            </a:pPr>
            <a:endParaRPr lang="en-US" b="1" dirty="0"/>
          </a:p>
          <a:p>
            <a:pPr algn="just">
              <a:buNone/>
            </a:pPr>
            <a:r>
              <a:rPr lang="en-US" sz="2000" dirty="0">
                <a:solidFill>
                  <a:srgbClr val="002060"/>
                </a:solidFill>
                <a:latin typeface="Arial" panose="020B0604020202020204" pitchFamily="34" charset="0"/>
                <a:cs typeface="Arial" panose="020B0604020202020204" pitchFamily="34" charset="0"/>
              </a:rPr>
              <a:t>I would like to sincerely thank </a:t>
            </a:r>
            <a:r>
              <a:rPr lang="en-US" sz="2000" b="1" dirty="0" err="1">
                <a:solidFill>
                  <a:srgbClr val="002060"/>
                </a:solidFill>
                <a:latin typeface="Arial" panose="020B0604020202020204" pitchFamily="34" charset="0"/>
                <a:cs typeface="Arial" panose="020B0604020202020204" pitchFamily="34" charset="0"/>
              </a:rPr>
              <a:t>Edunet</a:t>
            </a:r>
            <a:r>
              <a:rPr lang="en-US" sz="2000" b="1" dirty="0">
                <a:solidFill>
                  <a:srgbClr val="002060"/>
                </a:solidFill>
                <a:latin typeface="Arial" panose="020B0604020202020204" pitchFamily="34" charset="0"/>
                <a:cs typeface="Arial" panose="020B0604020202020204" pitchFamily="34" charset="0"/>
              </a:rPr>
              <a:t> Foundation and AICTE</a:t>
            </a:r>
            <a:r>
              <a:rPr lang="en-US" sz="2000" dirty="0">
                <a:solidFill>
                  <a:srgbClr val="002060"/>
                </a:solidFill>
                <a:latin typeface="Arial" panose="020B0604020202020204" pitchFamily="34" charset="0"/>
                <a:cs typeface="Arial" panose="020B0604020202020204" pitchFamily="34" charset="0"/>
              </a:rPr>
              <a:t> for providing this valuable opportunity through the </a:t>
            </a:r>
            <a:r>
              <a:rPr lang="en-US" sz="2000" b="1" dirty="0">
                <a:solidFill>
                  <a:srgbClr val="002060"/>
                </a:solidFill>
                <a:latin typeface="Arial" panose="020B0604020202020204" pitchFamily="34" charset="0"/>
                <a:cs typeface="Arial" panose="020B0604020202020204" pitchFamily="34" charset="0"/>
              </a:rPr>
              <a:t>Artificial Intelligence and Machine Learning Internship Program</a:t>
            </a:r>
            <a:r>
              <a:rPr lang="en-US" sz="2000" dirty="0">
                <a:solidFill>
                  <a:srgbClr val="002060"/>
                </a:solidFill>
                <a:latin typeface="Arial" panose="020B0604020202020204" pitchFamily="34" charset="0"/>
                <a:cs typeface="Arial" panose="020B0604020202020204" pitchFamily="34" charset="0"/>
              </a:rPr>
              <a:t>.</a:t>
            </a:r>
          </a:p>
          <a:p>
            <a:pPr algn="just">
              <a:buNone/>
            </a:pPr>
            <a:endParaRPr lang="en-US" sz="2000" dirty="0">
              <a:solidFill>
                <a:srgbClr val="002060"/>
              </a:solidFill>
              <a:latin typeface="Arial" panose="020B0604020202020204" pitchFamily="34" charset="0"/>
              <a:cs typeface="Arial" panose="020B0604020202020204" pitchFamily="34" charset="0"/>
            </a:endParaRPr>
          </a:p>
          <a:p>
            <a:pPr algn="just">
              <a:buNone/>
            </a:pPr>
            <a:r>
              <a:rPr lang="en-US" sz="2000" dirty="0">
                <a:solidFill>
                  <a:srgbClr val="002060"/>
                </a:solidFill>
                <a:latin typeface="Arial" panose="020B0604020202020204" pitchFamily="34" charset="0"/>
                <a:cs typeface="Arial" panose="020B0604020202020204" pitchFamily="34" charset="0"/>
              </a:rPr>
              <a:t>This internship helped me gain practical exposure to AI technologies and guided me in successfully developing the project </a:t>
            </a:r>
            <a:r>
              <a:rPr lang="en-US" sz="2000" b="1" dirty="0">
                <a:solidFill>
                  <a:srgbClr val="002060"/>
                </a:solidFill>
                <a:latin typeface="Arial" panose="020B0604020202020204" pitchFamily="34" charset="0"/>
                <a:cs typeface="Arial" panose="020B0604020202020204" pitchFamily="34" charset="0"/>
              </a:rPr>
              <a:t>“Mini AI Study Buddy.”</a:t>
            </a:r>
          </a:p>
          <a:p>
            <a:pPr algn="just">
              <a:buNone/>
            </a:pPr>
            <a:endParaRPr lang="en-US" sz="2000" dirty="0">
              <a:solidFill>
                <a:srgbClr val="002060"/>
              </a:solidFill>
              <a:latin typeface="Arial" panose="020B0604020202020204" pitchFamily="34" charset="0"/>
              <a:cs typeface="Arial" panose="020B0604020202020204" pitchFamily="34" charset="0"/>
            </a:endParaRPr>
          </a:p>
          <a:p>
            <a:pPr algn="just">
              <a:buNone/>
            </a:pPr>
            <a:r>
              <a:rPr lang="en-US" sz="2000" dirty="0">
                <a:solidFill>
                  <a:srgbClr val="002060"/>
                </a:solidFill>
                <a:latin typeface="Arial" panose="020B0604020202020204" pitchFamily="34" charset="0"/>
                <a:cs typeface="Arial" panose="020B0604020202020204" pitchFamily="34" charset="0"/>
              </a:rPr>
              <a:t>I also express my gratitude to my mentors and faculty members for their continuous support and guidance.</a:t>
            </a:r>
          </a:p>
        </p:txBody>
      </p:sp>
    </p:spTree>
    <p:extLst>
      <p:ext uri="{BB962C8B-B14F-4D97-AF65-F5344CB8AC3E}">
        <p14:creationId xmlns:p14="http://schemas.microsoft.com/office/powerpoint/2010/main" val="25706632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Props1.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8D289AE2-D2AE-49D1-AFAC-3A79F6794255}">
  <ds:schemaRefs>
    <ds:schemaRef ds:uri="http://schemas.openxmlformats.org/package/2006/metadata/core-properties"/>
    <ds:schemaRef ds:uri="http://purl.org/dc/elements/1.1/"/>
    <ds:schemaRef ds:uri="http://purl.org/dc/terms/"/>
    <ds:schemaRef ds:uri="http://schemas.microsoft.com/office/2006/documentManagement/types"/>
    <ds:schemaRef ds:uri="http://www.w3.org/XML/1998/namespace"/>
    <ds:schemaRef ds:uri="9162bd5b-4ed9-4da3-b376-05204580ba3f"/>
    <ds:schemaRef ds:uri="http://purl.org/dc/dcmitype/"/>
    <ds:schemaRef ds:uri="http://schemas.microsoft.com/office/infopath/2007/PartnerControls"/>
    <ds:schemaRef ds:uri="c0fa2617-96bd-425d-8578-e93563fe37c5"/>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Future forward</Template>
  <TotalTime>1400</TotalTime>
  <Words>748</Words>
  <Application>Microsoft Office PowerPoint</Application>
  <PresentationFormat>Widescreen</PresentationFormat>
  <Paragraphs>78</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Calibri</vt:lpstr>
      <vt:lpstr>Calibri Light</vt:lpstr>
      <vt:lpstr>Franklin Gothic Book</vt:lpstr>
      <vt:lpstr>Franklin Gothic Demi</vt:lpstr>
      <vt:lpstr>Unbounded Bold</vt:lpstr>
      <vt:lpstr>Wingdings 2</vt:lpstr>
      <vt:lpstr>DividendVTI</vt:lpstr>
      <vt:lpstr>“Mini AI Study Buddy – An AI Powered Learning Assistant”</vt:lpstr>
      <vt:lpstr>OUTLINE</vt:lpstr>
      <vt:lpstr>Problem Statement</vt:lpstr>
      <vt:lpstr>Proposed Solution</vt:lpstr>
      <vt:lpstr>System  Approach</vt:lpstr>
      <vt:lpstr>Algorithm &amp; Deployment</vt:lpstr>
      <vt:lpstr>PowerPoint Presentation</vt:lpstr>
      <vt:lpstr>Result</vt:lpstr>
      <vt:lpstr>PowerPoint Presentation</vt:lpstr>
      <vt:lpstr>PowerPoint Presentation</vt:lpstr>
      <vt:lpstr>Conclusion</vt:lpstr>
      <vt:lpstr>PowerPoint Presentation</vt:lpstr>
      <vt:lpstr>References</vt:lpstr>
      <vt:lpstr>Project Links</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Rupali Garule</cp:lastModifiedBy>
  <cp:revision>39</cp:revision>
  <dcterms:created xsi:type="dcterms:W3CDTF">2021-05-26T16:50:10Z</dcterms:created>
  <dcterms:modified xsi:type="dcterms:W3CDTF">2026-03-05T14:09:03Z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